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93df58e4514fb0" /><Relationship Type="http://schemas.openxmlformats.org/officeDocument/2006/relationships/extended-properties" Target="/docProps/app.xml" Id="R93b88d7468634ff4" /><Relationship Type="http://schemas.openxmlformats.org/officeDocument/2006/relationships/officeDocument" Target="/ppt/presentation.xml" Id="R9a2fb52d988e446d" /></Relationships>
</file>

<file path=ppt/presentation.xml><?xml version="1.0" encoding="utf-8"?>
<p:presentation xmlns:p="http://schemas.openxmlformats.org/presentationml/2006/main">
  <p:sldMasterIdLst>
    <p:sldMasterId xmlns:r="http://schemas.openxmlformats.org/officeDocument/2006/relationships" id="2147483648" r:id="Rffdf7519190a40ff"/>
  </p:sldMasterIdLst>
  <p:notesMasterIdLst>
    <p:notesMasterId xmlns:r="http://schemas.openxmlformats.org/officeDocument/2006/relationships" r:id="R12a2e74875154d34"/>
  </p:notesMasterIdLst>
  <p:sldIdLst>
    <p:sldId xmlns:r="http://schemas.openxmlformats.org/officeDocument/2006/relationships" id="256" r:id="R550e07b3a8a044e5"/>
    <p:sldId xmlns:r="http://schemas.openxmlformats.org/officeDocument/2006/relationships" id="257" r:id="R3b84a07c51264aec"/>
    <p:sldId xmlns:r="http://schemas.openxmlformats.org/officeDocument/2006/relationships" id="258" r:id="R78fae9720dab4810"/>
    <p:sldId xmlns:r="http://schemas.openxmlformats.org/officeDocument/2006/relationships" id="259" r:id="R2c7ee81164c54657"/>
    <p:sldId xmlns:r="http://schemas.openxmlformats.org/officeDocument/2006/relationships" id="260" r:id="Rb72163d9501c4851"/>
    <p:sldId xmlns:r="http://schemas.openxmlformats.org/officeDocument/2006/relationships" id="261" r:id="R1003018ff52d46b7"/>
    <p:sldId xmlns:r="http://schemas.openxmlformats.org/officeDocument/2006/relationships" id="262" r:id="Rf24d9197312e4649"/>
    <p:sldId xmlns:r="http://schemas.openxmlformats.org/officeDocument/2006/relationships" id="263" r:id="Rf37ec56252154f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b4652213464fd0" /><Relationship Type="http://schemas.openxmlformats.org/officeDocument/2006/relationships/slideMaster" Target="/ppt/slideMasters/slideMaster1.xml" Id="Rffdf7519190a40ff" /><Relationship Type="http://schemas.openxmlformats.org/officeDocument/2006/relationships/notesMaster" Target="/ppt/notesMasters/notesMaster1.xml" Id="R12a2e74875154d34" /><Relationship Type="http://schemas.openxmlformats.org/officeDocument/2006/relationships/presProps" Target="/ppt/presProps.xml" Id="R7fd2183f375f49c5" /><Relationship Type="http://schemas.openxmlformats.org/officeDocument/2006/relationships/tableStyles" Target="/ppt/tableStyles.xml" Id="R40c6f2f1ab7f46ca" /><Relationship Type="http://schemas.openxmlformats.org/officeDocument/2006/relationships/slide" Target="/ppt/slides/slide1.xml" Id="R550e07b3a8a044e5" /><Relationship Type="http://schemas.openxmlformats.org/officeDocument/2006/relationships/slide" Target="/ppt/slides/slide2.xml" Id="R3b84a07c51264aec" /><Relationship Type="http://schemas.openxmlformats.org/officeDocument/2006/relationships/slide" Target="/ppt/slides/slide3.xml" Id="R78fae9720dab4810" /><Relationship Type="http://schemas.openxmlformats.org/officeDocument/2006/relationships/slide" Target="/ppt/slides/slide4.xml" Id="R2c7ee81164c54657" /><Relationship Type="http://schemas.openxmlformats.org/officeDocument/2006/relationships/slide" Target="/ppt/slides/slide5.xml" Id="Rb72163d9501c4851" /><Relationship Type="http://schemas.openxmlformats.org/officeDocument/2006/relationships/slide" Target="/ppt/slides/slide6.xml" Id="R1003018ff52d46b7" /><Relationship Type="http://schemas.openxmlformats.org/officeDocument/2006/relationships/slide" Target="/ppt/slides/slide7.xml" Id="Rf24d9197312e4649" /><Relationship Type="http://schemas.openxmlformats.org/officeDocument/2006/relationships/slide" Target="/ppt/slides/slide8.xml" Id="Rf37ec56252154f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1a768e8b5d42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327a8a42a44d28" /><Relationship Type="http://schemas.openxmlformats.org/officeDocument/2006/relationships/notesMaster" Target="/ppt/notesMasters/notesMaster1.xml" Id="R92481b1452504b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990071ec174d87" /><Relationship Type="http://schemas.openxmlformats.org/officeDocument/2006/relationships/notesMaster" Target="/ppt/notesMasters/notesMaster1.xml" Id="R7b034b3e40674f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461653e178477e" /><Relationship Type="http://schemas.openxmlformats.org/officeDocument/2006/relationships/notesMaster" Target="/ppt/notesMasters/notesMaster1.xml" Id="R7aa8554fcaac4e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bd6a462fed4d86" /><Relationship Type="http://schemas.openxmlformats.org/officeDocument/2006/relationships/notesMaster" Target="/ppt/notesMasters/notesMaster1.xml" Id="Rf5a8a2c413fc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73c511c9664e39" /><Relationship Type="http://schemas.openxmlformats.org/officeDocument/2006/relationships/notesMaster" Target="/ppt/notesMasters/notesMaster1.xml" Id="R1e369daf89e34f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f8914cc8a343f6" /><Relationship Type="http://schemas.openxmlformats.org/officeDocument/2006/relationships/notesMaster" Target="/ppt/notesMasters/notesMaster1.xml" Id="R8eae9c1491c84d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fa8bc858de441b" /><Relationship Type="http://schemas.openxmlformats.org/officeDocument/2006/relationships/notesMaster" Target="/ppt/notesMasters/notesMaster1.xml" Id="R6898bbe6786c41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59f9e6f31e4806" /><Relationship Type="http://schemas.openxmlformats.org/officeDocument/2006/relationships/notesMaster" Target="/ppt/notesMasters/notesMaster1.xml" Id="R0f70b2dec3b344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user problem: insurance policies are long, regulated documents. The product retrieves evidence first, then generates a traceable answer instead of asking an LLM to rely on memory.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docs/qa/screenshots/11-frontend-home.png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S3 is only the source. The demo does not read PDFs on every question. It uses a deterministic Qdrant index built from nine audited PDFs, which makes responses faster and reproducible.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docs/architecture.md</a:t>
            </a:r>
          </a:p>
          <a:p xmlns:a="http://schemas.openxmlformats.org/drawingml/2006/main">
            <a:r>
              <a:t>- docs/eda-summary.md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90-second architecture explanation. Context: users depend on our assistant, S3, and OpenAI. Containers: Chainlit calls FastAPI; Qdrant persists policy vectors; Python scripts build and evaluate the index. Components: the router chooses policies, web, combined, or draft generation. This separation shows system boundaries without mixing deployment details with code internals.</a:t>
            </a:r>
          </a:p>
          <a:p xmlns:a="http://schemas.openxmlformats.org/drawingml/2006/main">
            <a:r>
              <a:t/>
            </a:r>
          </a:p>
          <a:p xmlns:a="http://schemas.openxmlformats.org/drawingml/2006/main">
            <a:r>
              <a:t>[Sources]</a:t>
            </a:r>
          </a:p>
          <a:p xmlns:a="http://schemas.openxmlformats.org/drawingml/2006/main">
            <a:r>
              <a:t>- README.md#c4-model</a:t>
            </a:r>
          </a:p>
          <a:p xmlns:a="http://schemas.openxmlformats.org/drawingml/2006/main">
            <a:r>
              <a:t>- docs/architecture.md</a:t>
            </a:r>
          </a:p>
          <a:p xmlns:a="http://schemas.openxmlformats.org/drawingml/2006/main">
            <a:r>
              <a:t>- docs/demo.md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stable API contract: answer, sources, and metadata. Policies is grounded in local PDFs; web uses current public information; combined runs both sources; draft creates a review-only document. SSE progressively streams progress and text to the UI.</a:t>
            </a:r>
          </a:p>
          <a:p xmlns:a="http://schemas.openxmlformats.org/drawingml/2006/main">
            <a:r>
              <a:t/>
            </a:r>
          </a:p>
          <a:p xmlns:a="http://schemas.openxmlformats.org/drawingml/2006/main">
            <a:r>
              <a:t>[Sources]</a:t>
            </a:r>
          </a:p>
          <a:p xmlns:a="http://schemas.openxmlformats.org/drawingml/2006/main">
            <a:r>
              <a:t>- src/insurance_chatbot/api.py</a:t>
            </a:r>
          </a:p>
          <a:p xmlns:a="http://schemas.openxmlformats.org/drawingml/2006/main">
            <a:r>
              <a:t>- src/insurance_chatbot/service.py</a:t>
            </a:r>
          </a:p>
          <a:p xmlns:a="http://schemas.openxmlformats.org/drawingml/2006/main">
            <a:r>
              <a:t>- frontend/app.py</a:t>
            </a:r>
          </a:p>
          <a:p xmlns:a="http://schemas.openxmlformats.org/drawingml/2006/main">
            <a:r>
              <a:t>-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UI is designed for inspection. Users can choose a mode, scope to a policy, watch streaming progress, open PDF or web sources, and see timing labels. The combined route clearly separates policy evidence from current web information.</a:t>
            </a:r>
          </a:p>
          <a:p xmlns:a="http://schemas.openxmlformats.org/drawingml/2006/main">
            <a:r>
              <a:t/>
            </a:r>
          </a:p>
          <a:p xmlns:a="http://schemas.openxmlformats.org/drawingml/2006/main">
            <a:r>
              <a:t>[Sources]</a:t>
            </a:r>
          </a:p>
          <a:p xmlns:a="http://schemas.openxmlformats.org/drawingml/2006/main">
            <a:r>
              <a:t>- docs/qa/screenshots/12-policies-final.png</a:t>
            </a:r>
          </a:p>
          <a:p xmlns:a="http://schemas.openxmlformats.org/drawingml/2006/main">
            <a:r>
              <a:t>- docs/qa/screenshots/14-combined-final.png</a:t>
            </a:r>
          </a:p>
          <a:p xmlns:a="http://schemas.openxmlformats.org/drawingml/2006/main">
            <a:r>
              <a:t>- docs/qa/integration_status.md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mix the metrics. Retrieval evaluates ranked chunks against manually assigned relevant chunk IDs. RAGAS judges semantic answer and context relevance. Latency decomposes preprocessing, model time, and total backend time. The 0.60 threshold is an internal operating rule, and 12 RAGAS questions are a baseline—not a definitive benchmark.</a:t>
            </a:r>
          </a:p>
          <a:p xmlns:a="http://schemas.openxmlformats.org/drawingml/2006/main">
            <a:r>
              <a:t/>
            </a:r>
          </a:p>
          <a:p xmlns:a="http://schemas.openxmlformats.org/drawingml/2006/main">
            <a:r>
              <a:t>[Sources]</a:t>
            </a:r>
          </a:p>
          <a:p xmlns:a="http://schemas.openxmlformats.org/drawingml/2006/main">
            <a:r>
              <a:t>- docs/evaluation.md</a:t>
            </a:r>
          </a:p>
          <a:p xmlns:a="http://schemas.openxmlformats.org/drawingml/2006/main">
            <a:r>
              <a:t>- data/evaluation/retrieval_baseline.json</a:t>
            </a:r>
          </a:p>
          <a:p xmlns:a="http://schemas.openxmlformats.org/drawingml/2006/main">
            <a:r>
              <a:t>- data/evaluation/ragas_baseline.json</a:t>
            </a:r>
          </a:p>
          <a:p xmlns:a="http://schemas.openxmlformats.org/drawingml/2006/main">
            <a:r>
              <a:t>- data/evaluation/latency_baseline.json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technical sign-off. A clean Docker rebuild produced healthy API and frontend containers. The full test suite passed. Real policies, web, combined, auto, draft, and SSE flows were exercised. The observed timings are measurements, not an SLA.</a:t>
            </a:r>
          </a:p>
          <a:p xmlns:a="http://schemas.openxmlformats.org/drawingml/2006/main">
            <a:r>
              <a:t/>
            </a:r>
          </a:p>
          <a:p xmlns:a="http://schemas.openxmlformats.org/drawingml/2006/main">
            <a:r>
              <a:t>[Sources]</a:t>
            </a:r>
          </a:p>
          <a:p xmlns:a="http://schemas.openxmlformats.org/drawingml/2006/main">
            <a:r>
              <a:t>- docs/qa/test_execution_log.md</a:t>
            </a:r>
          </a:p>
          <a:p xmlns:a="http://schemas.openxmlformats.org/drawingml/2006/main">
            <a:r>
              <a:t>- docs/qa/qa_checklist.md</a:t>
            </a:r>
          </a:p>
          <a:p xmlns:a="http://schemas.openxmlformats.org/drawingml/2006/main">
            <a:r>
              <a:t>- docs/qa/screenshots/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problem: the assistant now answers from evidence, shows its sources, and remains honest about limitations. The only remaining work is the human rehearsal. If Internet fails, demonstrate policies mode with POL320190074; the local Qdrant index remains available.</a:t>
            </a:r>
          </a:p>
          <a:p xmlns:a="http://schemas.openxmlformats.org/drawingml/2006/main">
            <a:r>
              <a:t/>
            </a:r>
          </a:p>
          <a:p xmlns:a="http://schemas.openxmlformats.org/drawingml/2006/main">
            <a:r>
              <a:t>[Sources]</a:t>
            </a:r>
          </a:p>
          <a:p xmlns:a="http://schemas.openxmlformats.org/drawingml/2006/main">
            <a:r>
              <a:t>- docs/team-closeout.md</a:t>
            </a:r>
          </a:p>
          <a:p xmlns:a="http://schemas.openxmlformats.org/drawingml/2006/main">
            <a:r>
              <a:t>- docs/demo.md</a:t>
            </a:r>
          </a:p>
          <a:p xmlns:a="http://schemas.openxmlformats.org/drawingml/2006/main">
            <a:r>
              <a:t>- docs/qa/known_issues.md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25c0df6d6a48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95b0f4f9c04bdf" /><Relationship Type="http://schemas.openxmlformats.org/officeDocument/2006/relationships/slideLayout" Target="/ppt/slideLayouts/slideLayout1.xml" Id="R5ca8a9a586574b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a8a9a586574b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b6824c67634bae" /><Relationship Type="http://schemas.openxmlformats.org/officeDocument/2006/relationships/image" Target="/ppt/media/image.jpeg" Id="Rd7ee227156994c0e" /><Relationship Type="http://schemas.openxmlformats.org/officeDocument/2006/relationships/notesSlide" Target="/ppt/notesSlides/notesSlide1.xml" Id="Re803107aa64343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b7cc0a67804a6d" /><Relationship Type="http://schemas.openxmlformats.org/officeDocument/2006/relationships/notesSlide" Target="/ppt/notesSlides/notesSlide2.xml" Id="R1f9f833e399a4c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608f8424b34cd7" /><Relationship Type="http://schemas.openxmlformats.org/officeDocument/2006/relationships/notesSlide" Target="/ppt/notesSlides/notesSlide3.xml" Id="Rd10a39cad8c14c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46de91974d400d" /><Relationship Type="http://schemas.openxmlformats.org/officeDocument/2006/relationships/notesSlide" Target="/ppt/notesSlides/notesSlide4.xml" Id="Ra04568f2baad44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46722487834cd6" /><Relationship Type="http://schemas.openxmlformats.org/officeDocument/2006/relationships/image" Target="/ppt/media/image2.jpeg" Id="Rf05a3dd04dfb4cdb" /><Relationship Type="http://schemas.openxmlformats.org/officeDocument/2006/relationships/image" Target="/ppt/media/image3.jpeg" Id="R2b30f7d5057c4c3b" /><Relationship Type="http://schemas.openxmlformats.org/officeDocument/2006/relationships/notesSlide" Target="/ppt/notesSlides/notesSlide5.xml" Id="Rca90cddd00744b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4bb8905f7c425c" /><Relationship Type="http://schemas.openxmlformats.org/officeDocument/2006/relationships/notesSlide" Target="/ppt/notesSlides/notesSlide6.xml" Id="Rad17ceb16bc64c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c1096b499b44b4" /><Relationship Type="http://schemas.openxmlformats.org/officeDocument/2006/relationships/notesSlide" Target="/ppt/notesSlides/notesSlide7.xml" Id="Rf5c4f0d0ee0941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b716d12e554f04" /><Relationship Type="http://schemas.openxmlformats.org/officeDocument/2006/relationships/notesSlide" Target="/ppt/notesSlides/notesSlide8.xml" Id="R540a645bd5904c1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9E7C72-1DF5-4F3B-89CF-E4B51002F099}"/>
              </a:ext>
            </a:extLst>
          </p:cNvPr>
          <p:cNvSpPr>
            <a:spLocks xmlns:a="http://schemas.openxmlformats.org/drawingml/2006/main" noGrp="1"/>
          </p:cNvSpPr>
          <p:nvPr/>
        </p:nvSpPr>
        <p:spPr>
          <a:xfrm xmlns:a="http://schemas.openxmlformats.org/drawingml/2006/main">
            <a:off x="533400" y="419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FINAL PROJECT · ANYONE AI</a:t>
            </a:r>
          </a:p>
        </p:txBody>
      </p:sp>
      <p:sp>
        <p:nvSpPr>
          <p:cNvPr id="2" name="">
            <a:extLst xmlns:a="http://schemas.openxmlformats.org/drawingml/2006/main">
              <a:ext uri="{FF2B5EF4-FFF2-40B4-BE49-F238E27FC236}">
                <a16:creationId xmlns:a16="http://schemas.microsoft.com/office/drawing/2014/main" id="{F52D1452-C300-48C4-8148-272990B9BA4C}"/>
              </a:ext>
            </a:extLst>
          </p:cNvPr>
          <p:cNvSpPr>
            <a:spLocks xmlns:a="http://schemas.openxmlformats.org/drawingml/2006/main" noGrp="1"/>
          </p:cNvSpPr>
          <p:nvPr/>
        </p:nvSpPr>
        <p:spPr>
          <a:xfrm xmlns:a="http://schemas.openxmlformats.org/drawingml/2006/main">
            <a:off x="533400" y="146685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0B162C"/>
                </a:solidFill>
                <a:latin typeface="Arial"/>
                <a:ea typeface="Arial"/>
                <a:cs typeface="Arial"/>
              </a:defRPr>
            </a:pPr>
            <a:r>
              <a:rPr sz="4350" b="1">
                <a:solidFill>
                  <a:srgbClr val="0B162C"/>
                </a:solidFill>
                <a:latin typeface="Arial"/>
                <a:ea typeface="Arial"/>
                <a:cs typeface="Arial"/>
              </a:rPr>
              <a:t>Insurance Policy</a:t>
            </a:r>
          </a:p>
          <a:p xmlns:a="http://schemas.openxmlformats.org/drawingml/2006/main">
            <a:pPr algn="l">
              <a:defRPr sz="4350" b="1">
                <a:solidFill>
                  <a:srgbClr val="0B162C"/>
                </a:solidFill>
                <a:latin typeface="Arial"/>
                <a:ea typeface="Arial"/>
                <a:cs typeface="Arial"/>
              </a:defRPr>
            </a:pPr>
            <a:r>
              <a:rPr sz="4350" b="1">
                <a:solidFill>
                  <a:srgbClr val="0B162C"/>
                </a:solidFill>
                <a:latin typeface="Arial"/>
                <a:ea typeface="Arial"/>
                <a:cs typeface="Arial"/>
              </a:rPr>
              <a:t>RAG Assistant</a:t>
            </a:r>
          </a:p>
        </p:txBody>
      </p:sp>
      <p:sp>
        <p:nvSpPr>
          <p:cNvPr id="3" name="">
            <a:extLst xmlns:a="http://schemas.openxmlformats.org/drawingml/2006/main">
              <a:ext uri="{FF2B5EF4-FFF2-40B4-BE49-F238E27FC236}">
                <a16:creationId xmlns:a16="http://schemas.microsoft.com/office/drawing/2014/main" id="{469AFD40-F1EC-4691-AD58-3421070E4F31}"/>
              </a:ext>
            </a:extLst>
          </p:cNvPr>
          <p:cNvSpPr>
            <a:spLocks xmlns:a="http://schemas.openxmlformats.org/drawingml/2006/main" noGrp="1"/>
          </p:cNvSpPr>
          <p:nvPr/>
        </p:nvSpPr>
        <p:spPr>
          <a:xfrm xmlns:a="http://schemas.openxmlformats.org/drawingml/2006/main">
            <a:off x="533400" y="33337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536171"/>
                </a:solidFill>
                <a:latin typeface="Arial"/>
                <a:ea typeface="Arial"/>
                <a:cs typeface="Arial"/>
              </a:defRPr>
            </a:pPr>
            <a:r>
              <a:rPr sz="1800" b="0">
                <a:solidFill>
                  <a:srgbClr val="536171"/>
                </a:solidFill>
                <a:latin typeface="Arial"/>
                <a:ea typeface="Arial"/>
                <a:cs typeface="Arial"/>
              </a:rPr>
              <a:t>Grounded policy answers, current web context, and review-only policy drafts.</a:t>
            </a:r>
          </a:p>
        </p:txBody>
      </p:sp>
      <p:sp>
        <p:nvSpPr>
          <p:cNvPr id="4" name="">
            <a:extLst xmlns:a="http://schemas.openxmlformats.org/drawingml/2006/main">
              <a:ext uri="{FF2B5EF4-FFF2-40B4-BE49-F238E27FC236}">
                <a16:creationId xmlns:a16="http://schemas.microsoft.com/office/drawing/2014/main" id="{26B0E20F-825F-4948-8E96-769D1D6F5748}"/>
              </a:ext>
            </a:extLst>
          </p:cNvPr>
          <p:cNvSpPr>
            <a:spLocks xmlns:a="http://schemas.openxmlformats.org/drawingml/2006/main" noGrp="1"/>
          </p:cNvSpPr>
          <p:nvPr/>
        </p:nvSpPr>
        <p:spPr>
          <a:xfrm xmlns:a="http://schemas.openxmlformats.org/drawingml/2006/main">
            <a:off x="533400" y="4876800"/>
            <a:ext cx="2952750" cy="76200"/>
          </a:xfrm>
          <a:prstGeom xmlns:a="http://schemas.openxmlformats.org/drawingml/2006/main" prst="rect">
            <a:avLst/>
          </a:prstGeom>
          <a:solidFill xmlns:a="http://schemas.openxmlformats.org/drawingml/2006/main">
            <a:srgbClr val="00D6A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441706-9446-498C-B11B-7631BA4BE762}"/>
              </a:ext>
            </a:extLst>
          </p:cNvPr>
          <p:cNvSpPr>
            <a:spLocks xmlns:a="http://schemas.openxmlformats.org/drawingml/2006/main" noGrp="1"/>
          </p:cNvSpPr>
          <p:nvPr/>
        </p:nvSpPr>
        <p:spPr>
          <a:xfrm xmlns:a="http://schemas.openxmlformats.org/drawingml/2006/main">
            <a:off x="533400" y="5219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Mateo Salgado · Project Lead</a:t>
            </a:r>
          </a:p>
        </p:txBody>
      </p:sp>
      <p:sp>
        <p:nvSpPr>
          <p:cNvPr id="6" name="">
            <a:extLst xmlns:a="http://schemas.openxmlformats.org/drawingml/2006/main">
              <a:ext uri="{FF2B5EF4-FFF2-40B4-BE49-F238E27FC236}">
                <a16:creationId xmlns:a16="http://schemas.microsoft.com/office/drawing/2014/main" id="{340F8BF9-91D2-4CB1-A42B-F75C7D22F66D}"/>
              </a:ext>
            </a:extLst>
          </p:cNvPr>
          <p:cNvSpPr>
            <a:spLocks xmlns:a="http://schemas.openxmlformats.org/drawingml/2006/main" noGrp="1"/>
          </p:cNvSpPr>
          <p:nvPr/>
        </p:nvSpPr>
        <p:spPr>
          <a:xfrm xmlns:a="http://schemas.openxmlformats.org/drawingml/2006/main">
            <a:off x="533400" y="5600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36171"/>
                </a:solidFill>
                <a:latin typeface="Arial"/>
                <a:ea typeface="Arial"/>
                <a:cs typeface="Arial"/>
              </a:defRPr>
            </a:pPr>
            <a:r>
              <a:rPr sz="1200" b="0">
                <a:solidFill>
                  <a:srgbClr val="536171"/>
                </a:solidFill>
                <a:latin typeface="Arial"/>
                <a:ea typeface="Arial"/>
                <a:cs typeface="Arial"/>
              </a:rPr>
              <a:t>Final demo · API 0.5.0</a:t>
            </a:r>
          </a:p>
        </p:txBody>
      </p:sp>
      <p:sp>
        <p:nvSpPr>
          <p:cNvPr id="7" name="">
            <a:extLst xmlns:a="http://schemas.openxmlformats.org/drawingml/2006/main">
              <a:ext uri="{FF2B5EF4-FFF2-40B4-BE49-F238E27FC236}">
                <a16:creationId xmlns:a16="http://schemas.microsoft.com/office/drawing/2014/main" id="{75E71FF6-5A4C-48CF-85B0-C9D08EFBD886}"/>
              </a:ext>
            </a:extLst>
          </p:cNvPr>
          <p:cNvSpPr>
            <a:spLocks xmlns:a="http://schemas.openxmlformats.org/drawingml/2006/main" noGrp="1"/>
          </p:cNvSpPr>
          <p:nvPr/>
        </p:nvSpPr>
        <p:spPr>
          <a:xfrm xmlns:a="http://schemas.openxmlformats.org/drawingml/2006/main">
            <a:off x="6096000" y="457200"/>
            <a:ext cx="5600700" cy="5600700"/>
          </a:xfrm>
          <a:prstGeom xmlns:a="http://schemas.openxmlformats.org/drawingml/2006/main" prst="roundRect">
            <a:avLst>
              <a:gd name="adj" fmla="val 1701"/>
            </a:avLst>
          </a:prstGeom>
          <a:solidFill xmlns:a="http://schemas.openxmlformats.org/drawingml/2006/main">
            <a:srgbClr val="FFFFFF"/>
          </a:solidFill>
          <a:ln xmlns:a="http://schemas.openxmlformats.org/drawingml/2006/main" w="9525">
            <a:solidFill>
              <a:srgbClr val="C8D0D9"/>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7ee227156994c0e"/>
          <a:stretch xmlns:a="http://schemas.openxmlformats.org/drawingml/2006/main"/>
        </p:blipFill>
        <p:spPr>
          <a:xfrm xmlns:a="http://schemas.openxmlformats.org/drawingml/2006/main">
            <a:off x="6153150" y="1714500"/>
            <a:ext cx="5486400" cy="3086100"/>
          </a:xfrm>
          <a:prstGeom xmlns:a="http://schemas.openxmlformats.org/drawingml/2006/main" prst="roundRect">
            <a:avLst>
              <a:gd name="adj" fmla="val 1389"/>
            </a:avLst>
          </a:prstGeom>
        </p:spPr>
      </p:pic>
      <p:sp>
        <p:nvSpPr>
          <p:cNvPr id="9" name="">
            <a:extLst xmlns:a="http://schemas.openxmlformats.org/drawingml/2006/main">
              <a:ext uri="{FF2B5EF4-FFF2-40B4-BE49-F238E27FC236}">
                <a16:creationId xmlns:a16="http://schemas.microsoft.com/office/drawing/2014/main" id="{9DFBA1E5-BB9D-4774-B2F9-37CCEAD128B1}"/>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01</a:t>
            </a:r>
          </a:p>
        </p:txBody>
      </p:sp>
    </p:spTree>
    <p:extLst>
      <p:ext uri="{BB962C8B-B14F-4D97-AF65-F5344CB8AC3E}">
        <p14:creationId xmlns:p14="http://schemas.microsoft.com/office/powerpoint/2010/main" val="17874904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BD02443-EFCB-42DB-AFE4-C2EFFABA02FF}"/>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CORPUS AND INGESTION</a:t>
            </a:r>
          </a:p>
        </p:txBody>
      </p:sp>
      <p:sp>
        <p:nvSpPr>
          <p:cNvPr id="2" name="">
            <a:extLst xmlns:a="http://schemas.openxmlformats.org/drawingml/2006/main">
              <a:ext uri="{FF2B5EF4-FFF2-40B4-BE49-F238E27FC236}">
                <a16:creationId xmlns:a16="http://schemas.microsoft.com/office/drawing/2014/main" id="{34E626C8-BD51-460B-9753-6E538DF2F647}"/>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A small, audited corpus became a reusable evidence layer</a:t>
            </a:r>
          </a:p>
        </p:txBody>
      </p:sp>
      <p:cxnSp>
        <p:nvCxnSpPr>
          <p:cNvPr id="23"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C1E9EE08-9AB7-4CEF-B5AB-4BED777820B6}"/>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8F0B7F8-B6CA-4AF7-B1FE-F3952FF1FC86}"/>
              </a:ext>
            </a:extLst>
          </p:cNvPr>
          <p:cNvSpPr>
            <a:spLocks xmlns:a="http://schemas.openxmlformats.org/drawingml/2006/main" noGrp="1"/>
          </p:cNvSpPr>
          <p:nvPr/>
        </p:nvSpPr>
        <p:spPr>
          <a:xfrm xmlns:a="http://schemas.openxmlformats.org/drawingml/2006/main">
            <a:off x="533400" y="15811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36171"/>
                </a:solidFill>
                <a:latin typeface="Arial"/>
                <a:ea typeface="Arial"/>
                <a:cs typeface="Arial"/>
              </a:defRPr>
            </a:pPr>
            <a:r>
              <a:rPr sz="1650" b="0">
                <a:solidFill>
                  <a:srgbClr val="536171"/>
                </a:solidFill>
                <a:latin typeface="Arial"/>
                <a:ea typeface="Arial"/>
                <a:cs typeface="Arial"/>
              </a:rPr>
              <a:t>Offline processing extracts every page, profiles quality, creates deterministic chunks, embeds them once, and persists the index locally.</a:t>
            </a:r>
          </a:p>
        </p:txBody>
      </p:sp>
      <p:sp>
        <p:nvSpPr>
          <p:cNvPr id="6" name="">
            <a:extLst xmlns:a="http://schemas.openxmlformats.org/drawingml/2006/main">
              <a:ext uri="{FF2B5EF4-FFF2-40B4-BE49-F238E27FC236}">
                <a16:creationId xmlns:a16="http://schemas.microsoft.com/office/drawing/2014/main" id="{C3AD51E6-5254-43FB-B6ED-3DBD01A70412}"/>
              </a:ext>
            </a:extLst>
          </p:cNvPr>
          <p:cNvSpPr>
            <a:spLocks xmlns:a="http://schemas.openxmlformats.org/drawingml/2006/main" noGrp="1"/>
          </p:cNvSpPr>
          <p:nvPr/>
        </p:nvSpPr>
        <p:spPr>
          <a:xfrm xmlns:a="http://schemas.openxmlformats.org/drawingml/2006/main">
            <a:off x="533400" y="2590800"/>
            <a:ext cx="2533650" cy="2152650"/>
          </a:xfrm>
          <a:prstGeom xmlns:a="http://schemas.openxmlformats.org/drawingml/2006/main" prst="roundRect">
            <a:avLst>
              <a:gd name="adj" fmla="val 3540"/>
            </a:avLst>
          </a:prstGeom>
          <a:solidFill xmlns:a="http://schemas.openxmlformats.org/drawingml/2006/main">
            <a:srgbClr val="F1F4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882BC8-9E22-467C-BECD-AA4362E66908}"/>
              </a:ext>
            </a:extLst>
          </p:cNvPr>
          <p:cNvSpPr>
            <a:spLocks xmlns:a="http://schemas.openxmlformats.org/drawingml/2006/main" noGrp="1"/>
          </p:cNvSpPr>
          <p:nvPr/>
        </p:nvSpPr>
        <p:spPr>
          <a:xfrm xmlns:a="http://schemas.openxmlformats.org/drawingml/2006/main">
            <a:off x="762000" y="2914650"/>
            <a:ext cx="2076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0B162C"/>
                </a:solidFill>
                <a:latin typeface="Arial"/>
                <a:ea typeface="Arial"/>
                <a:cs typeface="Arial"/>
              </a:defRPr>
            </a:pPr>
            <a:r>
              <a:rPr sz="3600" b="1">
                <a:solidFill>
                  <a:srgbClr val="0B162C"/>
                </a:solidFill>
                <a:latin typeface="Arial"/>
                <a:ea typeface="Arial"/>
                <a:cs typeface="Arial"/>
              </a:rPr>
              <a:t>9</a:t>
            </a:r>
          </a:p>
        </p:txBody>
      </p:sp>
      <p:sp>
        <p:nvSpPr>
          <p:cNvPr id="8" name="">
            <a:extLst xmlns:a="http://schemas.openxmlformats.org/drawingml/2006/main">
              <a:ext uri="{FF2B5EF4-FFF2-40B4-BE49-F238E27FC236}">
                <a16:creationId xmlns:a16="http://schemas.microsoft.com/office/drawing/2014/main" id="{4FBD1569-7C8C-4AE1-AE76-D61A5A24B02D}"/>
              </a:ext>
            </a:extLst>
          </p:cNvPr>
          <p:cNvSpPr>
            <a:spLocks xmlns:a="http://schemas.openxmlformats.org/drawingml/2006/main" noGrp="1"/>
          </p:cNvSpPr>
          <p:nvPr/>
        </p:nvSpPr>
        <p:spPr>
          <a:xfrm xmlns:a="http://schemas.openxmlformats.org/drawingml/2006/main">
            <a:off x="762000" y="3790950"/>
            <a:ext cx="207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171"/>
                </a:solidFill>
                <a:latin typeface="Arial"/>
                <a:ea typeface="Arial"/>
                <a:cs typeface="Arial"/>
              </a:defRPr>
            </a:pPr>
            <a:r>
              <a:rPr sz="1350" b="0">
                <a:solidFill>
                  <a:srgbClr val="536171"/>
                </a:solidFill>
                <a:latin typeface="Arial"/>
                <a:ea typeface="Arial"/>
                <a:cs typeface="Arial"/>
              </a:rPr>
              <a:t>audited PDF policies</a:t>
            </a:r>
          </a:p>
        </p:txBody>
      </p:sp>
      <p:sp>
        <p:nvSpPr>
          <p:cNvPr id="9" name="">
            <a:extLst xmlns:a="http://schemas.openxmlformats.org/drawingml/2006/main">
              <a:ext uri="{FF2B5EF4-FFF2-40B4-BE49-F238E27FC236}">
                <a16:creationId xmlns:a16="http://schemas.microsoft.com/office/drawing/2014/main" id="{50017816-7654-4FBF-9FD7-AA013A384E86}"/>
              </a:ext>
            </a:extLst>
          </p:cNvPr>
          <p:cNvSpPr>
            <a:spLocks xmlns:a="http://schemas.openxmlformats.org/drawingml/2006/main" noGrp="1"/>
          </p:cNvSpPr>
          <p:nvPr/>
        </p:nvSpPr>
        <p:spPr>
          <a:xfrm xmlns:a="http://schemas.openxmlformats.org/drawingml/2006/main">
            <a:off x="3333750" y="2590800"/>
            <a:ext cx="2533650" cy="2152650"/>
          </a:xfrm>
          <a:prstGeom xmlns:a="http://schemas.openxmlformats.org/drawingml/2006/main" prst="roundRect">
            <a:avLst>
              <a:gd name="adj" fmla="val 3540"/>
            </a:avLst>
          </a:prstGeom>
          <a:solidFill xmlns:a="http://schemas.openxmlformats.org/drawingml/2006/main">
            <a:srgbClr val="F1F4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9C8AD2-5A92-421F-86D9-33B438D3BD1D}"/>
              </a:ext>
            </a:extLst>
          </p:cNvPr>
          <p:cNvSpPr>
            <a:spLocks xmlns:a="http://schemas.openxmlformats.org/drawingml/2006/main" noGrp="1"/>
          </p:cNvSpPr>
          <p:nvPr/>
        </p:nvSpPr>
        <p:spPr>
          <a:xfrm xmlns:a="http://schemas.openxmlformats.org/drawingml/2006/main">
            <a:off x="3562350" y="2914650"/>
            <a:ext cx="2076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0B162C"/>
                </a:solidFill>
                <a:latin typeface="Arial"/>
                <a:ea typeface="Arial"/>
                <a:cs typeface="Arial"/>
              </a:defRPr>
            </a:pPr>
            <a:r>
              <a:rPr sz="3600" b="1">
                <a:solidFill>
                  <a:srgbClr val="0B162C"/>
                </a:solidFill>
                <a:latin typeface="Arial"/>
                <a:ea typeface="Arial"/>
                <a:cs typeface="Arial"/>
              </a:rPr>
              <a:t>267</a:t>
            </a:r>
          </a:p>
        </p:txBody>
      </p:sp>
      <p:sp>
        <p:nvSpPr>
          <p:cNvPr id="11" name="">
            <a:extLst xmlns:a="http://schemas.openxmlformats.org/drawingml/2006/main">
              <a:ext uri="{FF2B5EF4-FFF2-40B4-BE49-F238E27FC236}">
                <a16:creationId xmlns:a16="http://schemas.microsoft.com/office/drawing/2014/main" id="{7306E6A9-CDD8-4F64-81C5-0457ADCAC1F3}"/>
              </a:ext>
            </a:extLst>
          </p:cNvPr>
          <p:cNvSpPr>
            <a:spLocks xmlns:a="http://schemas.openxmlformats.org/drawingml/2006/main" noGrp="1"/>
          </p:cNvSpPr>
          <p:nvPr/>
        </p:nvSpPr>
        <p:spPr>
          <a:xfrm xmlns:a="http://schemas.openxmlformats.org/drawingml/2006/main">
            <a:off x="3562350" y="3790950"/>
            <a:ext cx="207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171"/>
                </a:solidFill>
                <a:latin typeface="Arial"/>
                <a:ea typeface="Arial"/>
                <a:cs typeface="Arial"/>
              </a:defRPr>
            </a:pPr>
            <a:r>
              <a:rPr sz="1350" b="0">
                <a:solidFill>
                  <a:srgbClr val="536171"/>
                </a:solidFill>
                <a:latin typeface="Arial"/>
                <a:ea typeface="Arial"/>
                <a:cs typeface="Arial"/>
              </a:rPr>
              <a:t>pages processed</a:t>
            </a:r>
          </a:p>
        </p:txBody>
      </p:sp>
      <p:sp>
        <p:nvSpPr>
          <p:cNvPr id="12" name="">
            <a:extLst xmlns:a="http://schemas.openxmlformats.org/drawingml/2006/main">
              <a:ext uri="{FF2B5EF4-FFF2-40B4-BE49-F238E27FC236}">
                <a16:creationId xmlns:a16="http://schemas.microsoft.com/office/drawing/2014/main" id="{A11319C8-30EE-4D9D-ABB2-E85FC938C94B}"/>
              </a:ext>
            </a:extLst>
          </p:cNvPr>
          <p:cNvSpPr>
            <a:spLocks xmlns:a="http://schemas.openxmlformats.org/drawingml/2006/main" noGrp="1"/>
          </p:cNvSpPr>
          <p:nvPr/>
        </p:nvSpPr>
        <p:spPr>
          <a:xfrm xmlns:a="http://schemas.openxmlformats.org/drawingml/2006/main">
            <a:off x="6134100" y="2590800"/>
            <a:ext cx="2533650" cy="2152650"/>
          </a:xfrm>
          <a:prstGeom xmlns:a="http://schemas.openxmlformats.org/drawingml/2006/main" prst="roundRect">
            <a:avLst>
              <a:gd name="adj" fmla="val 3540"/>
            </a:avLst>
          </a:prstGeom>
          <a:solidFill xmlns:a="http://schemas.openxmlformats.org/drawingml/2006/main">
            <a:srgbClr val="F1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953C0E2-1142-420A-B696-3EBE9125553C}"/>
              </a:ext>
            </a:extLst>
          </p:cNvPr>
          <p:cNvSpPr>
            <a:spLocks xmlns:a="http://schemas.openxmlformats.org/drawingml/2006/main" noGrp="1"/>
          </p:cNvSpPr>
          <p:nvPr/>
        </p:nvSpPr>
        <p:spPr>
          <a:xfrm xmlns:a="http://schemas.openxmlformats.org/drawingml/2006/main">
            <a:off x="6362700" y="2914650"/>
            <a:ext cx="2076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0B162C"/>
                </a:solidFill>
                <a:latin typeface="Arial"/>
                <a:ea typeface="Arial"/>
                <a:cs typeface="Arial"/>
              </a:defRPr>
            </a:pPr>
            <a:r>
              <a:rPr sz="3600" b="1">
                <a:solidFill>
                  <a:srgbClr val="0B162C"/>
                </a:solidFill>
                <a:latin typeface="Arial"/>
                <a:ea typeface="Arial"/>
                <a:cs typeface="Arial"/>
              </a:rPr>
              <a:t>81,698</a:t>
            </a:r>
          </a:p>
        </p:txBody>
      </p:sp>
      <p:sp>
        <p:nvSpPr>
          <p:cNvPr id="14" name="">
            <a:extLst xmlns:a="http://schemas.openxmlformats.org/drawingml/2006/main">
              <a:ext uri="{FF2B5EF4-FFF2-40B4-BE49-F238E27FC236}">
                <a16:creationId xmlns:a16="http://schemas.microsoft.com/office/drawing/2014/main" id="{75E94A3D-B15B-4B9F-A17B-7713167C2EE2}"/>
              </a:ext>
            </a:extLst>
          </p:cNvPr>
          <p:cNvSpPr>
            <a:spLocks xmlns:a="http://schemas.openxmlformats.org/drawingml/2006/main" noGrp="1"/>
          </p:cNvSpPr>
          <p:nvPr/>
        </p:nvSpPr>
        <p:spPr>
          <a:xfrm xmlns:a="http://schemas.openxmlformats.org/drawingml/2006/main">
            <a:off x="6362700" y="3790950"/>
            <a:ext cx="207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171"/>
                </a:solidFill>
                <a:latin typeface="Arial"/>
                <a:ea typeface="Arial"/>
                <a:cs typeface="Arial"/>
              </a:defRPr>
            </a:pPr>
            <a:r>
              <a:rPr sz="1350" b="0">
                <a:solidFill>
                  <a:srgbClr val="536171"/>
                </a:solidFill>
                <a:latin typeface="Arial"/>
                <a:ea typeface="Arial"/>
                <a:cs typeface="Arial"/>
              </a:rPr>
              <a:t>words extracted</a:t>
            </a:r>
          </a:p>
        </p:txBody>
      </p:sp>
      <p:sp>
        <p:nvSpPr>
          <p:cNvPr id="15" name="">
            <a:extLst xmlns:a="http://schemas.openxmlformats.org/drawingml/2006/main">
              <a:ext uri="{FF2B5EF4-FFF2-40B4-BE49-F238E27FC236}">
                <a16:creationId xmlns:a16="http://schemas.microsoft.com/office/drawing/2014/main" id="{3E3999B6-A7EC-4A86-B658-8FB0D6F603D3}"/>
              </a:ext>
            </a:extLst>
          </p:cNvPr>
          <p:cNvSpPr>
            <a:spLocks xmlns:a="http://schemas.openxmlformats.org/drawingml/2006/main" noGrp="1"/>
          </p:cNvSpPr>
          <p:nvPr/>
        </p:nvSpPr>
        <p:spPr>
          <a:xfrm xmlns:a="http://schemas.openxmlformats.org/drawingml/2006/main">
            <a:off x="8934450" y="2590800"/>
            <a:ext cx="2533650" cy="2152650"/>
          </a:xfrm>
          <a:prstGeom xmlns:a="http://schemas.openxmlformats.org/drawingml/2006/main" prst="roundRect">
            <a:avLst>
              <a:gd name="adj" fmla="val 3540"/>
            </a:avLst>
          </a:prstGeom>
          <a:solidFill xmlns:a="http://schemas.openxmlformats.org/drawingml/2006/main">
            <a:srgbClr val="EAF5F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6F09A8-DE43-42EC-A45F-7D02D47B6DF4}"/>
              </a:ext>
            </a:extLst>
          </p:cNvPr>
          <p:cNvSpPr>
            <a:spLocks xmlns:a="http://schemas.openxmlformats.org/drawingml/2006/main" noGrp="1"/>
          </p:cNvSpPr>
          <p:nvPr/>
        </p:nvSpPr>
        <p:spPr>
          <a:xfrm xmlns:a="http://schemas.openxmlformats.org/drawingml/2006/main">
            <a:off x="9163050" y="2914650"/>
            <a:ext cx="2076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3D8DFF"/>
                </a:solidFill>
                <a:latin typeface="Arial"/>
                <a:ea typeface="Arial"/>
                <a:cs typeface="Arial"/>
              </a:defRPr>
            </a:pPr>
            <a:r>
              <a:rPr sz="3600" b="1">
                <a:solidFill>
                  <a:srgbClr val="3D8DFF"/>
                </a:solidFill>
                <a:latin typeface="Arial"/>
                <a:ea typeface="Arial"/>
                <a:cs typeface="Arial"/>
              </a:rPr>
              <a:t>262</a:t>
            </a:r>
          </a:p>
        </p:txBody>
      </p:sp>
      <p:sp>
        <p:nvSpPr>
          <p:cNvPr id="17" name="">
            <a:extLst xmlns:a="http://schemas.openxmlformats.org/drawingml/2006/main">
              <a:ext uri="{FF2B5EF4-FFF2-40B4-BE49-F238E27FC236}">
                <a16:creationId xmlns:a16="http://schemas.microsoft.com/office/drawing/2014/main" id="{04AB2A13-9372-4DF6-9E1E-468D9ACB13D4}"/>
              </a:ext>
            </a:extLst>
          </p:cNvPr>
          <p:cNvSpPr>
            <a:spLocks xmlns:a="http://schemas.openxmlformats.org/drawingml/2006/main" noGrp="1"/>
          </p:cNvSpPr>
          <p:nvPr/>
        </p:nvSpPr>
        <p:spPr>
          <a:xfrm xmlns:a="http://schemas.openxmlformats.org/drawingml/2006/main">
            <a:off x="9163050" y="3790950"/>
            <a:ext cx="2076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171"/>
                </a:solidFill>
                <a:latin typeface="Arial"/>
                <a:ea typeface="Arial"/>
                <a:cs typeface="Arial"/>
              </a:defRPr>
            </a:pPr>
            <a:r>
              <a:rPr sz="1350" b="0">
                <a:solidFill>
                  <a:srgbClr val="536171"/>
                </a:solidFill>
                <a:latin typeface="Arial"/>
                <a:ea typeface="Arial"/>
                <a:cs typeface="Arial"/>
              </a:rPr>
              <a:t>indexed chunks</a:t>
            </a:r>
          </a:p>
        </p:txBody>
      </p:sp>
      <p:sp>
        <p:nvSpPr>
          <p:cNvPr id="18" name="">
            <a:extLst xmlns:a="http://schemas.openxmlformats.org/drawingml/2006/main">
              <a:ext uri="{FF2B5EF4-FFF2-40B4-BE49-F238E27FC236}">
                <a16:creationId xmlns:a16="http://schemas.microsoft.com/office/drawing/2014/main" id="{E03FCC42-2588-40AB-9ED2-1DDE1705229A}"/>
              </a:ext>
            </a:extLst>
          </p:cNvPr>
          <p:cNvSpPr>
            <a:spLocks xmlns:a="http://schemas.openxmlformats.org/drawingml/2006/main" noGrp="1"/>
          </p:cNvSpPr>
          <p:nvPr/>
        </p:nvSpPr>
        <p:spPr>
          <a:xfrm xmlns:a="http://schemas.openxmlformats.org/drawingml/2006/main">
            <a:off x="533400" y="52197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B162C"/>
                </a:solidFill>
                <a:latin typeface="Arial"/>
                <a:ea typeface="Arial"/>
                <a:cs typeface="Arial"/>
              </a:defRPr>
            </a:pPr>
            <a:r>
              <a:rPr sz="1500" b="1">
                <a:solidFill>
                  <a:srgbClr val="0B162C"/>
                </a:solidFill>
                <a:latin typeface="Arial"/>
                <a:ea typeface="Arial"/>
                <a:cs typeface="Arial"/>
              </a:rPr>
              <a:t>0 extraction failures</a:t>
            </a:r>
          </a:p>
        </p:txBody>
      </p:sp>
      <p:cxnSp>
        <p:nvCxnSpPr>
          <p:cNvPr id="39" name=""/>
          <p:cNvCxnSpPr/>
          <p:nvPr/>
        </p:nvCxnSpPr>
        <p:spPr>
          <a:xfrm xmlns:a="http://schemas.openxmlformats.org/drawingml/2006/main">
            <a:off x="3581400" y="5429250"/>
            <a:ext cx="2343150" cy="0"/>
          </a:xfrm>
          <a:prstGeom xmlns:a="http://schemas.openxmlformats.org/drawingml/2006/main" prst="straightConnector1">
            <a:avLst/>
          </a:prstGeom>
          <a:ln xmlns:a="http://schemas.openxmlformats.org/drawingml/2006/main" w="47625">
            <a:solidFill>
              <a:srgbClr val="00D6A3"/>
            </a:solidFill>
            <a:prstDash val="solid"/>
          </a:ln>
        </p:spPr>
      </p:cxnSp>
      <p:sp>
        <p:nvSpPr>
          <p:cNvPr id="20" name="">
            <a:extLst xmlns:a="http://schemas.openxmlformats.org/drawingml/2006/main">
              <a:ext uri="{FF2B5EF4-FFF2-40B4-BE49-F238E27FC236}">
                <a16:creationId xmlns:a16="http://schemas.microsoft.com/office/drawing/2014/main" id="{F2181AAA-A0B1-4181-845A-3552066A86BC}"/>
              </a:ext>
            </a:extLst>
          </p:cNvPr>
          <p:cNvSpPr>
            <a:spLocks xmlns:a="http://schemas.openxmlformats.org/drawingml/2006/main" noGrp="1"/>
          </p:cNvSpPr>
          <p:nvPr/>
        </p:nvSpPr>
        <p:spPr>
          <a:xfrm xmlns:a="http://schemas.openxmlformats.org/drawingml/2006/main">
            <a:off x="6191250" y="5095875"/>
            <a:ext cx="546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36171"/>
                </a:solidFill>
                <a:latin typeface="Arial"/>
                <a:ea typeface="Arial"/>
                <a:cs typeface="Arial"/>
              </a:defRPr>
            </a:pPr>
            <a:r>
              <a:rPr sz="1500" b="0">
                <a:solidFill>
                  <a:srgbClr val="536171"/>
                </a:solidFill>
                <a:latin typeface="Arial"/>
                <a:ea typeface="Arial"/>
                <a:cs typeface="Arial"/>
              </a:rPr>
              <a:t>The runtime reuses this snapshot—no repeated S3 download or re-indexing during the demo.</a:t>
            </a:r>
          </a:p>
        </p:txBody>
      </p:sp>
    </p:spTree>
    <p:extLst>
      <p:ext uri="{BB962C8B-B14F-4D97-AF65-F5344CB8AC3E}">
        <p14:creationId xmlns:p14="http://schemas.microsoft.com/office/powerpoint/2010/main" val="1374812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6DAF67F-6903-4650-8218-702F55544412}"/>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ARCHITECTURE · C4</a:t>
            </a:r>
          </a:p>
        </p:txBody>
      </p:sp>
      <p:sp>
        <p:nvSpPr>
          <p:cNvPr id="2" name="">
            <a:extLst xmlns:a="http://schemas.openxmlformats.org/drawingml/2006/main">
              <a:ext uri="{FF2B5EF4-FFF2-40B4-BE49-F238E27FC236}">
                <a16:creationId xmlns:a16="http://schemas.microsoft.com/office/drawing/2014/main" id="{D822A12F-A9FF-4BAA-A907-FEFCB6F687FE}"/>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C4 separates scope, deployment, and code</a:t>
            </a:r>
          </a:p>
        </p:txBody>
      </p:sp>
      <p:cxnSp>
        <p:nvCxnSpPr>
          <p:cNvPr id="46"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4978A0CE-7CBF-4532-962C-0399784996E6}"/>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3A75562-0E9D-4A2F-A85C-081434A6E2ED}"/>
              </a:ext>
            </a:extLst>
          </p:cNvPr>
          <p:cNvSpPr>
            <a:spLocks xmlns:a="http://schemas.openxmlformats.org/drawingml/2006/main" noGrp="1"/>
          </p:cNvSpPr>
          <p:nvPr/>
        </p:nvSpPr>
        <p:spPr>
          <a:xfrm xmlns:a="http://schemas.openxmlformats.org/drawingml/2006/main">
            <a:off x="533400" y="16573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C1 · CONTEXT</a:t>
            </a:r>
          </a:p>
        </p:txBody>
      </p:sp>
      <p:sp>
        <p:nvSpPr>
          <p:cNvPr id="6" name="">
            <a:extLst xmlns:a="http://schemas.openxmlformats.org/drawingml/2006/main">
              <a:ext uri="{FF2B5EF4-FFF2-40B4-BE49-F238E27FC236}">
                <a16:creationId xmlns:a16="http://schemas.microsoft.com/office/drawing/2014/main" id="{04F9C967-BA50-4E01-BAA5-3FDD70759859}"/>
              </a:ext>
            </a:extLst>
          </p:cNvPr>
          <p:cNvSpPr>
            <a:spLocks xmlns:a="http://schemas.openxmlformats.org/drawingml/2006/main" noGrp="1"/>
          </p:cNvSpPr>
          <p:nvPr/>
        </p:nvSpPr>
        <p:spPr>
          <a:xfrm xmlns:a="http://schemas.openxmlformats.org/drawingml/2006/main">
            <a:off x="533400" y="19431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972"/>
          </a:bodyPr>
          <a:lstStyle xmlns:a="http://schemas.openxmlformats.org/drawingml/2006/main"/>
          <a:p xmlns:a="http://schemas.openxmlformats.org/drawingml/2006/main">
            <a:pPr algn="l">
              <a:defRPr sz="1200" b="0">
                <a:solidFill>
                  <a:srgbClr val="536171"/>
                </a:solidFill>
                <a:latin typeface="Arial"/>
                <a:ea typeface="Arial"/>
                <a:cs typeface="Arial"/>
              </a:defRPr>
            </a:pPr>
            <a:r>
              <a:rPr sz="1200" b="0">
                <a:solidFill>
                  <a:srgbClr val="536171"/>
                </a:solidFill>
                <a:latin typeface="Arial"/>
                <a:ea typeface="Arial"/>
                <a:cs typeface="Arial"/>
              </a:rPr>
              <a:t>Who uses the system and which external services matter</a:t>
            </a:r>
          </a:p>
        </p:txBody>
      </p:sp>
      <p:sp>
        <p:nvSpPr>
          <p:cNvPr id="7" name="">
            <a:extLst xmlns:a="http://schemas.openxmlformats.org/drawingml/2006/main">
              <a:ext uri="{FF2B5EF4-FFF2-40B4-BE49-F238E27FC236}">
                <a16:creationId xmlns:a16="http://schemas.microsoft.com/office/drawing/2014/main" id="{5A28A2CB-4DEA-4DE5-B2D3-034F743E6E43}"/>
              </a:ext>
            </a:extLst>
          </p:cNvPr>
          <p:cNvSpPr>
            <a:spLocks xmlns:a="http://schemas.openxmlformats.org/drawingml/2006/main" noGrp="1"/>
          </p:cNvSpPr>
          <p:nvPr/>
        </p:nvSpPr>
        <p:spPr>
          <a:xfrm xmlns:a="http://schemas.openxmlformats.org/drawingml/2006/main">
            <a:off x="2800350" y="16764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DA40D9-76F1-42CF-866C-470A45CFAFB4}"/>
              </a:ext>
            </a:extLst>
          </p:cNvPr>
          <p:cNvSpPr>
            <a:spLocks xmlns:a="http://schemas.openxmlformats.org/drawingml/2006/main" noGrp="1"/>
          </p:cNvSpPr>
          <p:nvPr/>
        </p:nvSpPr>
        <p:spPr>
          <a:xfrm xmlns:a="http://schemas.openxmlformats.org/drawingml/2006/main">
            <a:off x="2933700" y="18288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Insurance user</a:t>
            </a:r>
          </a:p>
        </p:txBody>
      </p:sp>
      <p:sp>
        <p:nvSpPr>
          <p:cNvPr id="9" name="">
            <a:extLst xmlns:a="http://schemas.openxmlformats.org/drawingml/2006/main">
              <a:ext uri="{FF2B5EF4-FFF2-40B4-BE49-F238E27FC236}">
                <a16:creationId xmlns:a16="http://schemas.microsoft.com/office/drawing/2014/main" id="{B0107C2A-59B9-492F-95A4-CECA4EF4FA4B}"/>
              </a:ext>
            </a:extLst>
          </p:cNvPr>
          <p:cNvSpPr>
            <a:spLocks xmlns:a="http://schemas.openxmlformats.org/drawingml/2006/main" noGrp="1"/>
          </p:cNvSpPr>
          <p:nvPr/>
        </p:nvSpPr>
        <p:spPr>
          <a:xfrm xmlns:a="http://schemas.openxmlformats.org/drawingml/2006/main">
            <a:off x="4648200" y="19050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4B67B6F-D58A-408C-BA2E-842267F26F9D}"/>
              </a:ext>
            </a:extLst>
          </p:cNvPr>
          <p:cNvSpPr>
            <a:spLocks xmlns:a="http://schemas.openxmlformats.org/drawingml/2006/main" noGrp="1"/>
          </p:cNvSpPr>
          <p:nvPr/>
        </p:nvSpPr>
        <p:spPr>
          <a:xfrm xmlns:a="http://schemas.openxmlformats.org/drawingml/2006/main">
            <a:off x="4933950" y="1676400"/>
            <a:ext cx="1847850" cy="819150"/>
          </a:xfrm>
          <a:prstGeom xmlns:a="http://schemas.openxmlformats.org/drawingml/2006/main" prst="roundRect">
            <a:avLst>
              <a:gd name="adj" fmla="val 8140"/>
            </a:avLst>
          </a:prstGeom>
          <a:solidFill xmlns:a="http://schemas.openxmlformats.org/drawingml/2006/main">
            <a:srgbClr val="EAF5FB"/>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748DFA67-CD73-4814-B85C-F3C4C2518770}"/>
              </a:ext>
            </a:extLst>
          </p:cNvPr>
          <p:cNvSpPr>
            <a:spLocks xmlns:a="http://schemas.openxmlformats.org/drawingml/2006/main" noGrp="1"/>
          </p:cNvSpPr>
          <p:nvPr/>
        </p:nvSpPr>
        <p:spPr>
          <a:xfrm xmlns:a="http://schemas.openxmlformats.org/drawingml/2006/main">
            <a:off x="5067300" y="18288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518"/>
          </a:bodyPr>
          <a:lstStyle xmlns:a="http://schemas.openxmlformats.org/drawingml/2006/main"/>
          <a:p xmlns:a="http://schemas.openxmlformats.org/drawingml/2006/main">
            <a:pPr algn="ctr">
              <a:defRPr sz="1350" b="1">
                <a:solidFill>
                  <a:srgbClr val="0B162C"/>
                </a:solidFill>
                <a:latin typeface="Arial"/>
                <a:ea typeface="Arial"/>
                <a:cs typeface="Arial"/>
              </a:defRPr>
            </a:pPr>
            <a:r>
              <a:rPr sz="1350" b="1">
                <a:solidFill>
                  <a:srgbClr val="0B162C"/>
                </a:solidFill>
                <a:latin typeface="Arial"/>
                <a:ea typeface="Arial"/>
                <a:cs typeface="Arial"/>
              </a:rPr>
              <a:t>Policy RAG Assistant</a:t>
            </a:r>
          </a:p>
        </p:txBody>
      </p:sp>
      <p:sp>
        <p:nvSpPr>
          <p:cNvPr id="12" name="">
            <a:extLst xmlns:a="http://schemas.openxmlformats.org/drawingml/2006/main">
              <a:ext uri="{FF2B5EF4-FFF2-40B4-BE49-F238E27FC236}">
                <a16:creationId xmlns:a16="http://schemas.microsoft.com/office/drawing/2014/main" id="{C4070B4A-96A9-4DEE-BEEA-D40BAD77F280}"/>
              </a:ext>
            </a:extLst>
          </p:cNvPr>
          <p:cNvSpPr>
            <a:spLocks xmlns:a="http://schemas.openxmlformats.org/drawingml/2006/main" noGrp="1"/>
          </p:cNvSpPr>
          <p:nvPr/>
        </p:nvSpPr>
        <p:spPr>
          <a:xfrm xmlns:a="http://schemas.openxmlformats.org/drawingml/2006/main">
            <a:off x="6781800" y="19050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E0748B7E-37C2-46E7-AAD4-87292CD2A0D2}"/>
              </a:ext>
            </a:extLst>
          </p:cNvPr>
          <p:cNvSpPr>
            <a:spLocks xmlns:a="http://schemas.openxmlformats.org/drawingml/2006/main" noGrp="1"/>
          </p:cNvSpPr>
          <p:nvPr/>
        </p:nvSpPr>
        <p:spPr>
          <a:xfrm xmlns:a="http://schemas.openxmlformats.org/drawingml/2006/main">
            <a:off x="7067550" y="16764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1F9F7D-BD09-4C5F-9E58-4DA23E91DADF}"/>
              </a:ext>
            </a:extLst>
          </p:cNvPr>
          <p:cNvSpPr>
            <a:spLocks xmlns:a="http://schemas.openxmlformats.org/drawingml/2006/main" noGrp="1"/>
          </p:cNvSpPr>
          <p:nvPr/>
        </p:nvSpPr>
        <p:spPr>
          <a:xfrm xmlns:a="http://schemas.openxmlformats.org/drawingml/2006/main">
            <a:off x="7200900" y="18288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Anyone AI S3</a:t>
            </a:r>
          </a:p>
        </p:txBody>
      </p:sp>
      <p:sp>
        <p:nvSpPr>
          <p:cNvPr id="15" name="">
            <a:extLst xmlns:a="http://schemas.openxmlformats.org/drawingml/2006/main">
              <a:ext uri="{FF2B5EF4-FFF2-40B4-BE49-F238E27FC236}">
                <a16:creationId xmlns:a16="http://schemas.microsoft.com/office/drawing/2014/main" id="{253ACC07-53D5-47EF-B039-D4F3A34594C6}"/>
              </a:ext>
            </a:extLst>
          </p:cNvPr>
          <p:cNvSpPr>
            <a:spLocks xmlns:a="http://schemas.openxmlformats.org/drawingml/2006/main" noGrp="1"/>
          </p:cNvSpPr>
          <p:nvPr/>
        </p:nvSpPr>
        <p:spPr>
          <a:xfrm xmlns:a="http://schemas.openxmlformats.org/drawingml/2006/main">
            <a:off x="8915400" y="19050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C50A8BB7-BBE8-45F8-9F21-B847EE352D08}"/>
              </a:ext>
            </a:extLst>
          </p:cNvPr>
          <p:cNvSpPr>
            <a:spLocks xmlns:a="http://schemas.openxmlformats.org/drawingml/2006/main" noGrp="1"/>
          </p:cNvSpPr>
          <p:nvPr/>
        </p:nvSpPr>
        <p:spPr>
          <a:xfrm xmlns:a="http://schemas.openxmlformats.org/drawingml/2006/main">
            <a:off x="9201150" y="16764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BAC921-E32E-4A65-911A-C7716C23C9D8}"/>
              </a:ext>
            </a:extLst>
          </p:cNvPr>
          <p:cNvSpPr>
            <a:spLocks xmlns:a="http://schemas.openxmlformats.org/drawingml/2006/main" noGrp="1"/>
          </p:cNvSpPr>
          <p:nvPr/>
        </p:nvSpPr>
        <p:spPr>
          <a:xfrm xmlns:a="http://schemas.openxmlformats.org/drawingml/2006/main">
            <a:off x="9334500" y="18288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OpenAI API</a:t>
            </a:r>
          </a:p>
        </p:txBody>
      </p:sp>
      <p:sp>
        <p:nvSpPr>
          <p:cNvPr id="18" name="">
            <a:extLst xmlns:a="http://schemas.openxmlformats.org/drawingml/2006/main">
              <a:ext uri="{FF2B5EF4-FFF2-40B4-BE49-F238E27FC236}">
                <a16:creationId xmlns:a16="http://schemas.microsoft.com/office/drawing/2014/main" id="{806F6327-C2D9-47F7-8213-2B20850DD810}"/>
              </a:ext>
            </a:extLst>
          </p:cNvPr>
          <p:cNvSpPr>
            <a:spLocks xmlns:a="http://schemas.openxmlformats.org/drawingml/2006/main" noGrp="1"/>
          </p:cNvSpPr>
          <p:nvPr/>
        </p:nvSpPr>
        <p:spPr>
          <a:xfrm xmlns:a="http://schemas.openxmlformats.org/drawingml/2006/main">
            <a:off x="533400" y="308610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C2 · CONTAINERS</a:t>
            </a:r>
          </a:p>
        </p:txBody>
      </p:sp>
      <p:sp>
        <p:nvSpPr>
          <p:cNvPr id="19" name="">
            <a:extLst xmlns:a="http://schemas.openxmlformats.org/drawingml/2006/main">
              <a:ext uri="{FF2B5EF4-FFF2-40B4-BE49-F238E27FC236}">
                <a16:creationId xmlns:a16="http://schemas.microsoft.com/office/drawing/2014/main" id="{5ED141B8-EF71-4C82-BA44-3D17334ED5DC}"/>
              </a:ext>
            </a:extLst>
          </p:cNvPr>
          <p:cNvSpPr>
            <a:spLocks xmlns:a="http://schemas.openxmlformats.org/drawingml/2006/main" noGrp="1"/>
          </p:cNvSpPr>
          <p:nvPr/>
        </p:nvSpPr>
        <p:spPr>
          <a:xfrm xmlns:a="http://schemas.openxmlformats.org/drawingml/2006/main">
            <a:off x="533400" y="33718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36171"/>
                </a:solidFill>
                <a:latin typeface="Arial"/>
                <a:ea typeface="Arial"/>
                <a:cs typeface="Arial"/>
              </a:defRPr>
            </a:pPr>
            <a:r>
              <a:rPr sz="1200" b="0">
                <a:solidFill>
                  <a:srgbClr val="536171"/>
                </a:solidFill>
                <a:latin typeface="Arial"/>
                <a:ea typeface="Arial"/>
                <a:cs typeface="Arial"/>
              </a:rPr>
              <a:t>What runs and stores data</a:t>
            </a:r>
          </a:p>
        </p:txBody>
      </p:sp>
      <p:sp>
        <p:nvSpPr>
          <p:cNvPr id="20" name="">
            <a:extLst xmlns:a="http://schemas.openxmlformats.org/drawingml/2006/main">
              <a:ext uri="{FF2B5EF4-FFF2-40B4-BE49-F238E27FC236}">
                <a16:creationId xmlns:a16="http://schemas.microsoft.com/office/drawing/2014/main" id="{8F0F8339-4D33-4A7F-9DD9-99A183D8FDDD}"/>
              </a:ext>
            </a:extLst>
          </p:cNvPr>
          <p:cNvSpPr>
            <a:spLocks xmlns:a="http://schemas.openxmlformats.org/drawingml/2006/main" noGrp="1"/>
          </p:cNvSpPr>
          <p:nvPr/>
        </p:nvSpPr>
        <p:spPr>
          <a:xfrm xmlns:a="http://schemas.openxmlformats.org/drawingml/2006/main">
            <a:off x="2800350" y="310515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08B94BA-E6BD-4501-8749-9A0DC91FDC43}"/>
              </a:ext>
            </a:extLst>
          </p:cNvPr>
          <p:cNvSpPr>
            <a:spLocks xmlns:a="http://schemas.openxmlformats.org/drawingml/2006/main" noGrp="1"/>
          </p:cNvSpPr>
          <p:nvPr/>
        </p:nvSpPr>
        <p:spPr>
          <a:xfrm xmlns:a="http://schemas.openxmlformats.org/drawingml/2006/main">
            <a:off x="2933700" y="325755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Chainlit UI</a:t>
            </a:r>
          </a:p>
        </p:txBody>
      </p:sp>
      <p:sp>
        <p:nvSpPr>
          <p:cNvPr id="22" name="">
            <a:extLst xmlns:a="http://schemas.openxmlformats.org/drawingml/2006/main">
              <a:ext uri="{FF2B5EF4-FFF2-40B4-BE49-F238E27FC236}">
                <a16:creationId xmlns:a16="http://schemas.microsoft.com/office/drawing/2014/main" id="{07A515D7-8C55-4BDE-8057-C2DDCB0624A0}"/>
              </a:ext>
            </a:extLst>
          </p:cNvPr>
          <p:cNvSpPr>
            <a:spLocks xmlns:a="http://schemas.openxmlformats.org/drawingml/2006/main" noGrp="1"/>
          </p:cNvSpPr>
          <p:nvPr/>
        </p:nvSpPr>
        <p:spPr>
          <a:xfrm xmlns:a="http://schemas.openxmlformats.org/drawingml/2006/main">
            <a:off x="4648200" y="33337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2CEEB9D4-E091-4EC8-8DC2-2F18A84F0E29}"/>
              </a:ext>
            </a:extLst>
          </p:cNvPr>
          <p:cNvSpPr>
            <a:spLocks xmlns:a="http://schemas.openxmlformats.org/drawingml/2006/main" noGrp="1"/>
          </p:cNvSpPr>
          <p:nvPr/>
        </p:nvSpPr>
        <p:spPr>
          <a:xfrm xmlns:a="http://schemas.openxmlformats.org/drawingml/2006/main">
            <a:off x="4933950" y="3105150"/>
            <a:ext cx="1847850" cy="819150"/>
          </a:xfrm>
          <a:prstGeom xmlns:a="http://schemas.openxmlformats.org/drawingml/2006/main" prst="roundRect">
            <a:avLst>
              <a:gd name="adj" fmla="val 8140"/>
            </a:avLst>
          </a:prstGeom>
          <a:solidFill xmlns:a="http://schemas.openxmlformats.org/drawingml/2006/main">
            <a:srgbClr val="EAF5FB"/>
          </a:solidFill>
          <a:ln xmlns:a="http://schemas.openxmlformats.org/drawingml/2006/main" w="9525">
            <a:solidFill>
              <a:srgbClr val="3D8DFF"/>
            </a:solidFill>
            <a:prstDash val="solid"/>
          </a:ln>
        </p:spPr>
      </p:sp>
      <p:sp>
        <p:nvSpPr>
          <p:cNvPr id="24" name="">
            <a:extLst xmlns:a="http://schemas.openxmlformats.org/drawingml/2006/main">
              <a:ext uri="{FF2B5EF4-FFF2-40B4-BE49-F238E27FC236}">
                <a16:creationId xmlns:a16="http://schemas.microsoft.com/office/drawing/2014/main" id="{E05A8922-6CD8-42AB-B0AD-C7CE2A06E4D5}"/>
              </a:ext>
            </a:extLst>
          </p:cNvPr>
          <p:cNvSpPr>
            <a:spLocks xmlns:a="http://schemas.openxmlformats.org/drawingml/2006/main" noGrp="1"/>
          </p:cNvSpPr>
          <p:nvPr/>
        </p:nvSpPr>
        <p:spPr>
          <a:xfrm xmlns:a="http://schemas.openxmlformats.org/drawingml/2006/main">
            <a:off x="5067300" y="325755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2C"/>
                </a:solidFill>
                <a:latin typeface="Arial"/>
                <a:ea typeface="Arial"/>
                <a:cs typeface="Arial"/>
              </a:defRPr>
            </a:pPr>
            <a:r>
              <a:rPr sz="1350" b="1">
                <a:solidFill>
                  <a:srgbClr val="0B162C"/>
                </a:solidFill>
                <a:latin typeface="Arial"/>
                <a:ea typeface="Arial"/>
                <a:cs typeface="Arial"/>
              </a:rPr>
              <a:t>FastAPI 0.5.0</a:t>
            </a:r>
          </a:p>
        </p:txBody>
      </p:sp>
      <p:sp>
        <p:nvSpPr>
          <p:cNvPr id="25" name="">
            <a:extLst xmlns:a="http://schemas.openxmlformats.org/drawingml/2006/main">
              <a:ext uri="{FF2B5EF4-FFF2-40B4-BE49-F238E27FC236}">
                <a16:creationId xmlns:a16="http://schemas.microsoft.com/office/drawing/2014/main" id="{D4157621-04A6-44B6-8233-99C6968B6AB4}"/>
              </a:ext>
            </a:extLst>
          </p:cNvPr>
          <p:cNvSpPr>
            <a:spLocks xmlns:a="http://schemas.openxmlformats.org/drawingml/2006/main" noGrp="1"/>
          </p:cNvSpPr>
          <p:nvPr/>
        </p:nvSpPr>
        <p:spPr>
          <a:xfrm xmlns:a="http://schemas.openxmlformats.org/drawingml/2006/main">
            <a:off x="6781800" y="33337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6752F14C-3FB8-45AC-964D-230D381695A1}"/>
              </a:ext>
            </a:extLst>
          </p:cNvPr>
          <p:cNvSpPr>
            <a:spLocks xmlns:a="http://schemas.openxmlformats.org/drawingml/2006/main" noGrp="1"/>
          </p:cNvSpPr>
          <p:nvPr/>
        </p:nvSpPr>
        <p:spPr>
          <a:xfrm xmlns:a="http://schemas.openxmlformats.org/drawingml/2006/main">
            <a:off x="7067550" y="310515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FE72B2B-170A-4985-9031-CA0C9C5061BC}"/>
              </a:ext>
            </a:extLst>
          </p:cNvPr>
          <p:cNvSpPr>
            <a:spLocks xmlns:a="http://schemas.openxmlformats.org/drawingml/2006/main" noGrp="1"/>
          </p:cNvSpPr>
          <p:nvPr/>
        </p:nvSpPr>
        <p:spPr>
          <a:xfrm xmlns:a="http://schemas.openxmlformats.org/drawingml/2006/main">
            <a:off x="7200900" y="325755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Qdrant store</a:t>
            </a:r>
          </a:p>
        </p:txBody>
      </p:sp>
      <p:sp>
        <p:nvSpPr>
          <p:cNvPr id="28" name="">
            <a:extLst xmlns:a="http://schemas.openxmlformats.org/drawingml/2006/main">
              <a:ext uri="{FF2B5EF4-FFF2-40B4-BE49-F238E27FC236}">
                <a16:creationId xmlns:a16="http://schemas.microsoft.com/office/drawing/2014/main" id="{2D5074D8-C9A5-49B4-A77B-7FAE59A98924}"/>
              </a:ext>
            </a:extLst>
          </p:cNvPr>
          <p:cNvSpPr>
            <a:spLocks xmlns:a="http://schemas.openxmlformats.org/drawingml/2006/main" noGrp="1"/>
          </p:cNvSpPr>
          <p:nvPr/>
        </p:nvSpPr>
        <p:spPr>
          <a:xfrm xmlns:a="http://schemas.openxmlformats.org/drawingml/2006/main">
            <a:off x="8915400" y="33337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961BF497-DE40-4F5A-A6B5-F2E8D59EA4E6}"/>
              </a:ext>
            </a:extLst>
          </p:cNvPr>
          <p:cNvSpPr>
            <a:spLocks xmlns:a="http://schemas.openxmlformats.org/drawingml/2006/main" noGrp="1"/>
          </p:cNvSpPr>
          <p:nvPr/>
        </p:nvSpPr>
        <p:spPr>
          <a:xfrm xmlns:a="http://schemas.openxmlformats.org/drawingml/2006/main">
            <a:off x="9201150" y="310515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B9BAF50-064D-4C00-AAB8-E6B7A5CF4AB5}"/>
              </a:ext>
            </a:extLst>
          </p:cNvPr>
          <p:cNvSpPr>
            <a:spLocks xmlns:a="http://schemas.openxmlformats.org/drawingml/2006/main" noGrp="1"/>
          </p:cNvSpPr>
          <p:nvPr/>
        </p:nvSpPr>
        <p:spPr>
          <a:xfrm xmlns:a="http://schemas.openxmlformats.org/drawingml/2006/main">
            <a:off x="9334500" y="325755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Evaluation scripts</a:t>
            </a:r>
          </a:p>
        </p:txBody>
      </p:sp>
      <p:sp>
        <p:nvSpPr>
          <p:cNvPr id="31" name="">
            <a:extLst xmlns:a="http://schemas.openxmlformats.org/drawingml/2006/main">
              <a:ext uri="{FF2B5EF4-FFF2-40B4-BE49-F238E27FC236}">
                <a16:creationId xmlns:a16="http://schemas.microsoft.com/office/drawing/2014/main" id="{931BD7AE-323F-4D6D-9F8B-6705ACCE733A}"/>
              </a:ext>
            </a:extLst>
          </p:cNvPr>
          <p:cNvSpPr>
            <a:spLocks xmlns:a="http://schemas.openxmlformats.org/drawingml/2006/main" noGrp="1"/>
          </p:cNvSpPr>
          <p:nvPr/>
        </p:nvSpPr>
        <p:spPr>
          <a:xfrm xmlns:a="http://schemas.openxmlformats.org/drawingml/2006/main">
            <a:off x="533400" y="45148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C3 · COMPONENTS</a:t>
            </a:r>
          </a:p>
        </p:txBody>
      </p:sp>
      <p:sp>
        <p:nvSpPr>
          <p:cNvPr id="32" name="">
            <a:extLst xmlns:a="http://schemas.openxmlformats.org/drawingml/2006/main">
              <a:ext uri="{FF2B5EF4-FFF2-40B4-BE49-F238E27FC236}">
                <a16:creationId xmlns:a16="http://schemas.microsoft.com/office/drawing/2014/main" id="{34BD3672-36E5-4BD7-A981-4264C35596C1}"/>
              </a:ext>
            </a:extLst>
          </p:cNvPr>
          <p:cNvSpPr>
            <a:spLocks xmlns:a="http://schemas.openxmlformats.org/drawingml/2006/main" noGrp="1"/>
          </p:cNvSpPr>
          <p:nvPr/>
        </p:nvSpPr>
        <p:spPr>
          <a:xfrm xmlns:a="http://schemas.openxmlformats.org/drawingml/2006/main">
            <a:off x="533400" y="48006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36171"/>
                </a:solidFill>
                <a:latin typeface="Arial"/>
                <a:ea typeface="Arial"/>
                <a:cs typeface="Arial"/>
              </a:defRPr>
            </a:pPr>
            <a:r>
              <a:rPr sz="1200" b="0">
                <a:solidFill>
                  <a:srgbClr val="536171"/>
                </a:solidFill>
                <a:latin typeface="Arial"/>
                <a:ea typeface="Arial"/>
                <a:cs typeface="Arial"/>
              </a:rPr>
              <a:t>How a query is routed and answered</a:t>
            </a:r>
          </a:p>
        </p:txBody>
      </p:sp>
      <p:sp>
        <p:nvSpPr>
          <p:cNvPr id="33" name="">
            <a:extLst xmlns:a="http://schemas.openxmlformats.org/drawingml/2006/main">
              <a:ext uri="{FF2B5EF4-FFF2-40B4-BE49-F238E27FC236}">
                <a16:creationId xmlns:a16="http://schemas.microsoft.com/office/drawing/2014/main" id="{F8AF79B3-D9DE-4CC1-B6F9-E2E2FC5E9F4F}"/>
              </a:ext>
            </a:extLst>
          </p:cNvPr>
          <p:cNvSpPr>
            <a:spLocks xmlns:a="http://schemas.openxmlformats.org/drawingml/2006/main" noGrp="1"/>
          </p:cNvSpPr>
          <p:nvPr/>
        </p:nvSpPr>
        <p:spPr>
          <a:xfrm xmlns:a="http://schemas.openxmlformats.org/drawingml/2006/main">
            <a:off x="2800350" y="45339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E17E7BB-4BED-4ACB-BA38-043C61DD7F4B}"/>
              </a:ext>
            </a:extLst>
          </p:cNvPr>
          <p:cNvSpPr>
            <a:spLocks xmlns:a="http://schemas.openxmlformats.org/drawingml/2006/main" noGrp="1"/>
          </p:cNvSpPr>
          <p:nvPr/>
        </p:nvSpPr>
        <p:spPr>
          <a:xfrm xmlns:a="http://schemas.openxmlformats.org/drawingml/2006/main">
            <a:off x="2933700" y="46863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Router</a:t>
            </a:r>
          </a:p>
        </p:txBody>
      </p:sp>
      <p:sp>
        <p:nvSpPr>
          <p:cNvPr id="35" name="">
            <a:extLst xmlns:a="http://schemas.openxmlformats.org/drawingml/2006/main">
              <a:ext uri="{FF2B5EF4-FFF2-40B4-BE49-F238E27FC236}">
                <a16:creationId xmlns:a16="http://schemas.microsoft.com/office/drawing/2014/main" id="{569CB25B-765E-43BE-99B5-8B66B2DDC322}"/>
              </a:ext>
            </a:extLst>
          </p:cNvPr>
          <p:cNvSpPr>
            <a:spLocks xmlns:a="http://schemas.openxmlformats.org/drawingml/2006/main" noGrp="1"/>
          </p:cNvSpPr>
          <p:nvPr/>
        </p:nvSpPr>
        <p:spPr>
          <a:xfrm xmlns:a="http://schemas.openxmlformats.org/drawingml/2006/main">
            <a:off x="4648200" y="47625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EAD61CF4-C1B3-42AF-9170-5B538FD5BECA}"/>
              </a:ext>
            </a:extLst>
          </p:cNvPr>
          <p:cNvSpPr>
            <a:spLocks xmlns:a="http://schemas.openxmlformats.org/drawingml/2006/main" noGrp="1"/>
          </p:cNvSpPr>
          <p:nvPr/>
        </p:nvSpPr>
        <p:spPr>
          <a:xfrm xmlns:a="http://schemas.openxmlformats.org/drawingml/2006/main">
            <a:off x="4933950" y="4533900"/>
            <a:ext cx="1847850" cy="819150"/>
          </a:xfrm>
          <a:prstGeom xmlns:a="http://schemas.openxmlformats.org/drawingml/2006/main" prst="roundRect">
            <a:avLst>
              <a:gd name="adj" fmla="val 8140"/>
            </a:avLst>
          </a:prstGeom>
          <a:solidFill xmlns:a="http://schemas.openxmlformats.org/drawingml/2006/main">
            <a:srgbClr val="EAF5FB"/>
          </a:solidFill>
          <a:ln xmlns:a="http://schemas.openxmlformats.org/drawingml/2006/main" w="9525">
            <a:solidFill>
              <a:srgbClr val="3D8DFF"/>
            </a:solidFill>
            <a:prstDash val="solid"/>
          </a:ln>
        </p:spPr>
      </p:sp>
      <p:sp>
        <p:nvSpPr>
          <p:cNvPr id="37" name="">
            <a:extLst xmlns:a="http://schemas.openxmlformats.org/drawingml/2006/main">
              <a:ext uri="{FF2B5EF4-FFF2-40B4-BE49-F238E27FC236}">
                <a16:creationId xmlns:a16="http://schemas.microsoft.com/office/drawing/2014/main" id="{7C524846-3727-4145-ABCE-D50EDCD4DBCD}"/>
              </a:ext>
            </a:extLst>
          </p:cNvPr>
          <p:cNvSpPr>
            <a:spLocks xmlns:a="http://schemas.openxmlformats.org/drawingml/2006/main" noGrp="1"/>
          </p:cNvSpPr>
          <p:nvPr/>
        </p:nvSpPr>
        <p:spPr>
          <a:xfrm xmlns:a="http://schemas.openxmlformats.org/drawingml/2006/main">
            <a:off x="5067300" y="46863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2C"/>
                </a:solidFill>
                <a:latin typeface="Arial"/>
                <a:ea typeface="Arial"/>
                <a:cs typeface="Arial"/>
              </a:defRPr>
            </a:pPr>
            <a:r>
              <a:rPr sz="1350" b="1">
                <a:solidFill>
                  <a:srgbClr val="0B162C"/>
                </a:solidFill>
                <a:latin typeface="Arial"/>
                <a:ea typeface="Arial"/>
                <a:cs typeface="Arial"/>
              </a:rPr>
              <a:t>Policy RAG</a:t>
            </a:r>
          </a:p>
        </p:txBody>
      </p:sp>
      <p:sp>
        <p:nvSpPr>
          <p:cNvPr id="38" name="">
            <a:extLst xmlns:a="http://schemas.openxmlformats.org/drawingml/2006/main">
              <a:ext uri="{FF2B5EF4-FFF2-40B4-BE49-F238E27FC236}">
                <a16:creationId xmlns:a16="http://schemas.microsoft.com/office/drawing/2014/main" id="{0F640759-402F-4714-93F0-02C65B0239FE}"/>
              </a:ext>
            </a:extLst>
          </p:cNvPr>
          <p:cNvSpPr>
            <a:spLocks xmlns:a="http://schemas.openxmlformats.org/drawingml/2006/main" noGrp="1"/>
          </p:cNvSpPr>
          <p:nvPr/>
        </p:nvSpPr>
        <p:spPr>
          <a:xfrm xmlns:a="http://schemas.openxmlformats.org/drawingml/2006/main">
            <a:off x="6781800" y="47625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0AEF0BEA-A3D5-4D10-8ADF-6CB1262D970F}"/>
              </a:ext>
            </a:extLst>
          </p:cNvPr>
          <p:cNvSpPr>
            <a:spLocks xmlns:a="http://schemas.openxmlformats.org/drawingml/2006/main" noGrp="1"/>
          </p:cNvSpPr>
          <p:nvPr/>
        </p:nvSpPr>
        <p:spPr>
          <a:xfrm xmlns:a="http://schemas.openxmlformats.org/drawingml/2006/main">
            <a:off x="7067550" y="45339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6455BD5-303E-4D06-960A-06C6D5FAF551}"/>
              </a:ext>
            </a:extLst>
          </p:cNvPr>
          <p:cNvSpPr>
            <a:spLocks xmlns:a="http://schemas.openxmlformats.org/drawingml/2006/main" noGrp="1"/>
          </p:cNvSpPr>
          <p:nvPr/>
        </p:nvSpPr>
        <p:spPr>
          <a:xfrm xmlns:a="http://schemas.openxmlformats.org/drawingml/2006/main">
            <a:off x="7200900" y="46863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Web search</a:t>
            </a:r>
          </a:p>
        </p:txBody>
      </p:sp>
      <p:sp>
        <p:nvSpPr>
          <p:cNvPr id="41" name="">
            <a:extLst xmlns:a="http://schemas.openxmlformats.org/drawingml/2006/main">
              <a:ext uri="{FF2B5EF4-FFF2-40B4-BE49-F238E27FC236}">
                <a16:creationId xmlns:a16="http://schemas.microsoft.com/office/drawing/2014/main" id="{FB12C0A4-E09B-4CB8-8453-9D70B3FA7B04}"/>
              </a:ext>
            </a:extLst>
          </p:cNvPr>
          <p:cNvSpPr>
            <a:spLocks xmlns:a="http://schemas.openxmlformats.org/drawingml/2006/main" noGrp="1"/>
          </p:cNvSpPr>
          <p:nvPr/>
        </p:nvSpPr>
        <p:spPr>
          <a:xfrm xmlns:a="http://schemas.openxmlformats.org/drawingml/2006/main">
            <a:off x="8915400" y="47625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769"/>
          </a:bodyPr>
          <a:lstStyle xmlns:a="http://schemas.openxmlformats.org/drawingml/2006/main"/>
          <a:p xmlns:a="http://schemas.openxmlformats.org/drawingml/2006/main">
            <a:pPr algn="ctr">
              <a:defRPr sz="1800" b="1">
                <a:solidFill>
                  <a:srgbClr val="3D8DFF"/>
                </a:solidFill>
                <a:latin typeface="Arial"/>
                <a:ea typeface="Arial"/>
                <a:cs typeface="Arial"/>
              </a:defRPr>
            </a:pPr>
            <a:r>
              <a:rPr sz="1800" b="1">
                <a:solidFill>
                  <a:srgbClr val="3D8DFF"/>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C3FC0CB8-9DFB-46B9-929F-FE5561197198}"/>
              </a:ext>
            </a:extLst>
          </p:cNvPr>
          <p:cNvSpPr>
            <a:spLocks xmlns:a="http://schemas.openxmlformats.org/drawingml/2006/main" noGrp="1"/>
          </p:cNvSpPr>
          <p:nvPr/>
        </p:nvSpPr>
        <p:spPr>
          <a:xfrm xmlns:a="http://schemas.openxmlformats.org/drawingml/2006/main">
            <a:off x="9201150" y="4533900"/>
            <a:ext cx="1847850" cy="819150"/>
          </a:xfrm>
          <a:prstGeom xmlns:a="http://schemas.openxmlformats.org/drawingml/2006/main" prst="roundRect">
            <a:avLst>
              <a:gd name="adj" fmla="val 8140"/>
            </a:avLst>
          </a:prstGeom>
          <a:solidFill xmlns:a="http://schemas.openxmlformats.org/drawingml/2006/main">
            <a:srgbClr val="F1F4F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DE177B9-9708-40F5-8392-67983F0DDB03}"/>
              </a:ext>
            </a:extLst>
          </p:cNvPr>
          <p:cNvSpPr>
            <a:spLocks xmlns:a="http://schemas.openxmlformats.org/drawingml/2006/main" noGrp="1"/>
          </p:cNvSpPr>
          <p:nvPr/>
        </p:nvSpPr>
        <p:spPr>
          <a:xfrm xmlns:a="http://schemas.openxmlformats.org/drawingml/2006/main">
            <a:off x="9334500" y="4686300"/>
            <a:ext cx="1581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0B162C"/>
                </a:solidFill>
                <a:latin typeface="Arial"/>
                <a:ea typeface="Arial"/>
                <a:cs typeface="Arial"/>
              </a:defRPr>
            </a:pPr>
            <a:r>
              <a:rPr sz="1350" b="0">
                <a:solidFill>
                  <a:srgbClr val="0B162C"/>
                </a:solidFill>
                <a:latin typeface="Arial"/>
                <a:ea typeface="Arial"/>
                <a:cs typeface="Arial"/>
              </a:rPr>
              <a:t>Draft service</a:t>
            </a:r>
          </a:p>
        </p:txBody>
      </p:sp>
    </p:spTree>
    <p:extLst>
      <p:ext uri="{BB962C8B-B14F-4D97-AF65-F5344CB8AC3E}">
        <p14:creationId xmlns:p14="http://schemas.microsoft.com/office/powerpoint/2010/main" val="380559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618FEA-52A7-481B-B37D-3618E705148F}"/>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RUNTIME QUERY FLOW</a:t>
            </a:r>
          </a:p>
        </p:txBody>
      </p:sp>
      <p:sp>
        <p:nvSpPr>
          <p:cNvPr id="2" name="">
            <a:extLst xmlns:a="http://schemas.openxmlformats.org/drawingml/2006/main">
              <a:ext uri="{FF2B5EF4-FFF2-40B4-BE49-F238E27FC236}">
                <a16:creationId xmlns:a16="http://schemas.microsoft.com/office/drawing/2014/main" id="{1E7EAC91-07DE-4BBE-AB02-51CDD2BFDBD5}"/>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One stable API contract supports every route</a:t>
            </a:r>
          </a:p>
        </p:txBody>
      </p:sp>
      <p:cxnSp>
        <p:nvCxnSpPr>
          <p:cNvPr id="25"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8DF95C08-32D2-4B22-9CAF-A4E41B594FE9}"/>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04</a:t>
            </a:r>
          </a:p>
        </p:txBody>
      </p:sp>
      <p:cxnSp>
        <p:nvCxnSpPr>
          <p:cNvPr id="27" name=""/>
          <p:cNvCxnSpPr/>
          <p:nvPr/>
        </p:nvCxnSpPr>
        <p:spPr>
          <a:xfrm xmlns:a="http://schemas.openxmlformats.org/drawingml/2006/main">
            <a:off x="914400" y="2990850"/>
            <a:ext cx="10363200" cy="0"/>
          </a:xfrm>
          <a:prstGeom xmlns:a="http://schemas.openxmlformats.org/drawingml/2006/main" prst="straightConnector1">
            <a:avLst/>
          </a:prstGeom>
          <a:ln xmlns:a="http://schemas.openxmlformats.org/drawingml/2006/main" w="19050">
            <a:solidFill>
              <a:srgbClr val="0B162C"/>
            </a:solidFill>
            <a:prstDash val="solid"/>
          </a:ln>
        </p:spPr>
      </p:cxnSp>
      <p:sp>
        <p:nvSpPr>
          <p:cNvPr id="6" name="">
            <a:extLst xmlns:a="http://schemas.openxmlformats.org/drawingml/2006/main">
              <a:ext uri="{FF2B5EF4-FFF2-40B4-BE49-F238E27FC236}">
                <a16:creationId xmlns:a16="http://schemas.microsoft.com/office/drawing/2014/main" id="{AAB2090F-3E25-448C-B70C-943173D6C997}"/>
              </a:ext>
            </a:extLst>
          </p:cNvPr>
          <p:cNvSpPr>
            <a:spLocks xmlns:a="http://schemas.openxmlformats.org/drawingml/2006/main" noGrp="1"/>
          </p:cNvSpPr>
          <p:nvPr/>
        </p:nvSpPr>
        <p:spPr>
          <a:xfrm xmlns:a="http://schemas.openxmlformats.org/drawingml/2006/main">
            <a:off x="838200" y="2838450"/>
            <a:ext cx="228600" cy="228600"/>
          </a:xfrm>
          <a:prstGeom xmlns:a="http://schemas.openxmlformats.org/drawingml/2006/main" prst="roundRect">
            <a:avLst>
              <a:gd name="adj" fmla="val 50000"/>
            </a:avLst>
          </a:prstGeom>
          <a:solidFill xmlns:a="http://schemas.openxmlformats.org/drawingml/2006/main">
            <a:srgbClr val="00D6A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B5929C-F10A-4F8F-A810-FB1F0CCFE3AE}"/>
              </a:ext>
            </a:extLst>
          </p:cNvPr>
          <p:cNvSpPr>
            <a:spLocks xmlns:a="http://schemas.openxmlformats.org/drawingml/2006/main" noGrp="1"/>
          </p:cNvSpPr>
          <p:nvPr/>
        </p:nvSpPr>
        <p:spPr>
          <a:xfrm xmlns:a="http://schemas.openxmlformats.org/drawingml/2006/main">
            <a:off x="685800" y="20574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1 · REQUEST</a:t>
            </a:r>
          </a:p>
        </p:txBody>
      </p:sp>
      <p:sp>
        <p:nvSpPr>
          <p:cNvPr id="8" name="">
            <a:extLst xmlns:a="http://schemas.openxmlformats.org/drawingml/2006/main">
              <a:ext uri="{FF2B5EF4-FFF2-40B4-BE49-F238E27FC236}">
                <a16:creationId xmlns:a16="http://schemas.microsoft.com/office/drawing/2014/main" id="{6923BD30-DDC4-4133-8911-E2BF7615A718}"/>
              </a:ext>
            </a:extLst>
          </p:cNvPr>
          <p:cNvSpPr>
            <a:spLocks xmlns:a="http://schemas.openxmlformats.org/drawingml/2006/main" noGrp="1"/>
          </p:cNvSpPr>
          <p:nvPr/>
        </p:nvSpPr>
        <p:spPr>
          <a:xfrm xmlns:a="http://schemas.openxmlformats.org/drawingml/2006/main">
            <a:off x="685800" y="3409950"/>
            <a:ext cx="31242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0B162C"/>
                </a:solidFill>
                <a:latin typeface="Arial"/>
                <a:ea typeface="Arial"/>
                <a:cs typeface="Arial"/>
              </a:defRPr>
            </a:pPr>
            <a:r>
              <a:rPr sz="1575" b="0">
                <a:solidFill>
                  <a:srgbClr val="0B162C"/>
                </a:solidFill>
                <a:latin typeface="Arial"/>
                <a:ea typeface="Arial"/>
                <a:cs typeface="Arial"/>
              </a:rPr>
              <a:t>Chainlit sends question, mode and optional policy ID over POST or SSE.</a:t>
            </a:r>
          </a:p>
        </p:txBody>
      </p:sp>
      <p:sp>
        <p:nvSpPr>
          <p:cNvPr id="9" name="">
            <a:extLst xmlns:a="http://schemas.openxmlformats.org/drawingml/2006/main">
              <a:ext uri="{FF2B5EF4-FFF2-40B4-BE49-F238E27FC236}">
                <a16:creationId xmlns:a16="http://schemas.microsoft.com/office/drawing/2014/main" id="{D99AA166-50D2-4BD8-A038-EB5E655E42A0}"/>
              </a:ext>
            </a:extLst>
          </p:cNvPr>
          <p:cNvSpPr>
            <a:spLocks xmlns:a="http://schemas.openxmlformats.org/drawingml/2006/main" noGrp="1"/>
          </p:cNvSpPr>
          <p:nvPr/>
        </p:nvSpPr>
        <p:spPr>
          <a:xfrm xmlns:a="http://schemas.openxmlformats.org/drawingml/2006/main">
            <a:off x="4648200" y="2838450"/>
            <a:ext cx="228600" cy="228600"/>
          </a:xfrm>
          <a:prstGeom xmlns:a="http://schemas.openxmlformats.org/drawingml/2006/main" prst="roundRect">
            <a:avLst>
              <a:gd name="adj" fmla="val 50000"/>
            </a:avLst>
          </a:prstGeom>
          <a:solidFill xmlns:a="http://schemas.openxmlformats.org/drawingml/2006/main">
            <a:srgbClr val="00D6A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A96C55-B5F3-4F96-B3F9-1047EE96C31C}"/>
              </a:ext>
            </a:extLst>
          </p:cNvPr>
          <p:cNvSpPr>
            <a:spLocks xmlns:a="http://schemas.openxmlformats.org/drawingml/2006/main" noGrp="1"/>
          </p:cNvSpPr>
          <p:nvPr/>
        </p:nvSpPr>
        <p:spPr>
          <a:xfrm xmlns:a="http://schemas.openxmlformats.org/drawingml/2006/main">
            <a:off x="4495800" y="20574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2 · EVIDENCE</a:t>
            </a:r>
          </a:p>
        </p:txBody>
      </p:sp>
      <p:sp>
        <p:nvSpPr>
          <p:cNvPr id="11" name="">
            <a:extLst xmlns:a="http://schemas.openxmlformats.org/drawingml/2006/main">
              <a:ext uri="{FF2B5EF4-FFF2-40B4-BE49-F238E27FC236}">
                <a16:creationId xmlns:a16="http://schemas.microsoft.com/office/drawing/2014/main" id="{91D34E39-59C4-4408-8227-0C8AA50B7E5B}"/>
              </a:ext>
            </a:extLst>
          </p:cNvPr>
          <p:cNvSpPr>
            <a:spLocks xmlns:a="http://schemas.openxmlformats.org/drawingml/2006/main" noGrp="1"/>
          </p:cNvSpPr>
          <p:nvPr/>
        </p:nvSpPr>
        <p:spPr>
          <a:xfrm xmlns:a="http://schemas.openxmlformats.org/drawingml/2006/main">
            <a:off x="4495800" y="3409950"/>
            <a:ext cx="31242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0B162C"/>
                </a:solidFill>
                <a:latin typeface="Arial"/>
                <a:ea typeface="Arial"/>
                <a:cs typeface="Arial"/>
              </a:defRPr>
            </a:pPr>
            <a:r>
              <a:rPr sz="1575" b="0">
                <a:solidFill>
                  <a:srgbClr val="0B162C"/>
                </a:solidFill>
                <a:latin typeface="Arial"/>
                <a:ea typeface="Arial"/>
                <a:cs typeface="Arial"/>
              </a:rPr>
              <a:t>FastAPI routes to Qdrant, web search, or both; drafts retrieve source policies.</a:t>
            </a:r>
          </a:p>
        </p:txBody>
      </p:sp>
      <p:sp>
        <p:nvSpPr>
          <p:cNvPr id="12" name="">
            <a:extLst xmlns:a="http://schemas.openxmlformats.org/drawingml/2006/main">
              <a:ext uri="{FF2B5EF4-FFF2-40B4-BE49-F238E27FC236}">
                <a16:creationId xmlns:a16="http://schemas.microsoft.com/office/drawing/2014/main" id="{71564484-5D3D-4C45-9C80-B9DC12517B08}"/>
              </a:ext>
            </a:extLst>
          </p:cNvPr>
          <p:cNvSpPr>
            <a:spLocks xmlns:a="http://schemas.openxmlformats.org/drawingml/2006/main" noGrp="1"/>
          </p:cNvSpPr>
          <p:nvPr/>
        </p:nvSpPr>
        <p:spPr>
          <a:xfrm xmlns:a="http://schemas.openxmlformats.org/drawingml/2006/main">
            <a:off x="8458200" y="2838450"/>
            <a:ext cx="228600" cy="228600"/>
          </a:xfrm>
          <a:prstGeom xmlns:a="http://schemas.openxmlformats.org/drawingml/2006/main" prst="roundRect">
            <a:avLst>
              <a:gd name="adj" fmla="val 50000"/>
            </a:avLst>
          </a:prstGeom>
          <a:solidFill xmlns:a="http://schemas.openxmlformats.org/drawingml/2006/main">
            <a:srgbClr val="00D6A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8B8CCC8-E3F8-4F1A-B732-50B416D5549F}"/>
              </a:ext>
            </a:extLst>
          </p:cNvPr>
          <p:cNvSpPr>
            <a:spLocks xmlns:a="http://schemas.openxmlformats.org/drawingml/2006/main" noGrp="1"/>
          </p:cNvSpPr>
          <p:nvPr/>
        </p:nvSpPr>
        <p:spPr>
          <a:xfrm xmlns:a="http://schemas.openxmlformats.org/drawingml/2006/main">
            <a:off x="8305800" y="20574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3 · ANSWER</a:t>
            </a:r>
          </a:p>
        </p:txBody>
      </p:sp>
      <p:sp>
        <p:nvSpPr>
          <p:cNvPr id="14" name="">
            <a:extLst xmlns:a="http://schemas.openxmlformats.org/drawingml/2006/main">
              <a:ext uri="{FF2B5EF4-FFF2-40B4-BE49-F238E27FC236}">
                <a16:creationId xmlns:a16="http://schemas.microsoft.com/office/drawing/2014/main" id="{1FD45E98-CAEA-463D-8952-530B4182D870}"/>
              </a:ext>
            </a:extLst>
          </p:cNvPr>
          <p:cNvSpPr>
            <a:spLocks xmlns:a="http://schemas.openxmlformats.org/drawingml/2006/main" noGrp="1"/>
          </p:cNvSpPr>
          <p:nvPr/>
        </p:nvSpPr>
        <p:spPr>
          <a:xfrm xmlns:a="http://schemas.openxmlformats.org/drawingml/2006/main">
            <a:off x="8305800" y="3409950"/>
            <a:ext cx="31242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0B162C"/>
                </a:solidFill>
                <a:latin typeface="Arial"/>
                <a:ea typeface="Arial"/>
                <a:cs typeface="Arial"/>
              </a:defRPr>
            </a:pPr>
            <a:r>
              <a:rPr sz="1575" b="0">
                <a:solidFill>
                  <a:srgbClr val="0B162C"/>
                </a:solidFill>
                <a:latin typeface="Arial"/>
                <a:ea typeface="Arial"/>
                <a:cs typeface="Arial"/>
              </a:rPr>
              <a:t>OpenAI generates a cited response; metadata returns route, model, chunks and latency.</a:t>
            </a:r>
          </a:p>
        </p:txBody>
      </p:sp>
      <p:sp>
        <p:nvSpPr>
          <p:cNvPr id="15" name="">
            <a:extLst xmlns:a="http://schemas.openxmlformats.org/drawingml/2006/main">
              <a:ext uri="{FF2B5EF4-FFF2-40B4-BE49-F238E27FC236}">
                <a16:creationId xmlns:a16="http://schemas.microsoft.com/office/drawing/2014/main" id="{D9123539-D19A-4762-AA98-5E5C96A84D5F}"/>
              </a:ext>
            </a:extLst>
          </p:cNvPr>
          <p:cNvSpPr>
            <a:spLocks xmlns:a="http://schemas.openxmlformats.org/drawingml/2006/main" noGrp="1"/>
          </p:cNvSpPr>
          <p:nvPr/>
        </p:nvSpPr>
        <p:spPr>
          <a:xfrm xmlns:a="http://schemas.openxmlformats.org/drawingml/2006/main">
            <a:off x="533400" y="5372100"/>
            <a:ext cx="2533650" cy="514350"/>
          </a:xfrm>
          <a:prstGeom xmlns:a="http://schemas.openxmlformats.org/drawingml/2006/main" prst="roundRect">
            <a:avLst>
              <a:gd name="adj" fmla="val 11111"/>
            </a:avLst>
          </a:prstGeom>
          <a:solidFill xmlns:a="http://schemas.openxmlformats.org/drawingml/2006/main">
            <a:srgbClr val="F1F4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8509FF-A027-463F-8559-D14D0F7694D4}"/>
              </a:ext>
            </a:extLst>
          </p:cNvPr>
          <p:cNvSpPr>
            <a:spLocks xmlns:a="http://schemas.openxmlformats.org/drawingml/2006/main" noGrp="1"/>
          </p:cNvSpPr>
          <p:nvPr/>
        </p:nvSpPr>
        <p:spPr>
          <a:xfrm xmlns:a="http://schemas.openxmlformats.org/drawingml/2006/main">
            <a:off x="533400" y="54768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B162C"/>
                </a:solidFill>
                <a:latin typeface="Arial"/>
                <a:ea typeface="Arial"/>
                <a:cs typeface="Arial"/>
              </a:defRPr>
            </a:pPr>
            <a:r>
              <a:rPr sz="1125" b="1">
                <a:solidFill>
                  <a:srgbClr val="0B162C"/>
                </a:solidFill>
                <a:latin typeface="Arial"/>
                <a:ea typeface="Arial"/>
                <a:cs typeface="Arial"/>
              </a:rPr>
              <a:t>POLICIES</a:t>
            </a:r>
          </a:p>
        </p:txBody>
      </p:sp>
      <p:sp>
        <p:nvSpPr>
          <p:cNvPr id="17" name="">
            <a:extLst xmlns:a="http://schemas.openxmlformats.org/drawingml/2006/main">
              <a:ext uri="{FF2B5EF4-FFF2-40B4-BE49-F238E27FC236}">
                <a16:creationId xmlns:a16="http://schemas.microsoft.com/office/drawing/2014/main" id="{FDD3237E-51A3-469D-85C8-C7DCCE016C6E}"/>
              </a:ext>
            </a:extLst>
          </p:cNvPr>
          <p:cNvSpPr>
            <a:spLocks xmlns:a="http://schemas.openxmlformats.org/drawingml/2006/main" noGrp="1"/>
          </p:cNvSpPr>
          <p:nvPr/>
        </p:nvSpPr>
        <p:spPr>
          <a:xfrm xmlns:a="http://schemas.openxmlformats.org/drawingml/2006/main">
            <a:off x="3333750" y="5372100"/>
            <a:ext cx="2533650" cy="514350"/>
          </a:xfrm>
          <a:prstGeom xmlns:a="http://schemas.openxmlformats.org/drawingml/2006/main" prst="roundRect">
            <a:avLst>
              <a:gd name="adj" fmla="val 11111"/>
            </a:avLst>
          </a:prstGeom>
          <a:solidFill xmlns:a="http://schemas.openxmlformats.org/drawingml/2006/main">
            <a:srgbClr val="F1F4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868933A-4A2C-46E9-88F5-15BBCDB8F8D7}"/>
              </a:ext>
            </a:extLst>
          </p:cNvPr>
          <p:cNvSpPr>
            <a:spLocks xmlns:a="http://schemas.openxmlformats.org/drawingml/2006/main" noGrp="1"/>
          </p:cNvSpPr>
          <p:nvPr/>
        </p:nvSpPr>
        <p:spPr>
          <a:xfrm xmlns:a="http://schemas.openxmlformats.org/drawingml/2006/main">
            <a:off x="3333750" y="54768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B162C"/>
                </a:solidFill>
                <a:latin typeface="Arial"/>
                <a:ea typeface="Arial"/>
                <a:cs typeface="Arial"/>
              </a:defRPr>
            </a:pPr>
            <a:r>
              <a:rPr sz="1125" b="1">
                <a:solidFill>
                  <a:srgbClr val="0B162C"/>
                </a:solidFill>
                <a:latin typeface="Arial"/>
                <a:ea typeface="Arial"/>
                <a:cs typeface="Arial"/>
              </a:rPr>
              <a:t>WEB</a:t>
            </a:r>
          </a:p>
        </p:txBody>
      </p:sp>
      <p:sp>
        <p:nvSpPr>
          <p:cNvPr id="19" name="">
            <a:extLst xmlns:a="http://schemas.openxmlformats.org/drawingml/2006/main">
              <a:ext uri="{FF2B5EF4-FFF2-40B4-BE49-F238E27FC236}">
                <a16:creationId xmlns:a16="http://schemas.microsoft.com/office/drawing/2014/main" id="{4265BBAB-3226-43FA-9D52-913C2A703B49}"/>
              </a:ext>
            </a:extLst>
          </p:cNvPr>
          <p:cNvSpPr>
            <a:spLocks xmlns:a="http://schemas.openxmlformats.org/drawingml/2006/main" noGrp="1"/>
          </p:cNvSpPr>
          <p:nvPr/>
        </p:nvSpPr>
        <p:spPr>
          <a:xfrm xmlns:a="http://schemas.openxmlformats.org/drawingml/2006/main">
            <a:off x="6134100" y="5372100"/>
            <a:ext cx="2533650" cy="514350"/>
          </a:xfrm>
          <a:prstGeom xmlns:a="http://schemas.openxmlformats.org/drawingml/2006/main" prst="roundRect">
            <a:avLst>
              <a:gd name="adj" fmla="val 11111"/>
            </a:avLst>
          </a:prstGeom>
          <a:solidFill xmlns:a="http://schemas.openxmlformats.org/drawingml/2006/main">
            <a:srgbClr val="EAF5F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B2DEF92-659F-449B-B6AE-282BAC26F4D6}"/>
              </a:ext>
            </a:extLst>
          </p:cNvPr>
          <p:cNvSpPr>
            <a:spLocks xmlns:a="http://schemas.openxmlformats.org/drawingml/2006/main" noGrp="1"/>
          </p:cNvSpPr>
          <p:nvPr/>
        </p:nvSpPr>
        <p:spPr>
          <a:xfrm xmlns:a="http://schemas.openxmlformats.org/drawingml/2006/main">
            <a:off x="6134100" y="54768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3D8DFF"/>
                </a:solidFill>
                <a:latin typeface="Arial"/>
                <a:ea typeface="Arial"/>
                <a:cs typeface="Arial"/>
              </a:defRPr>
            </a:pPr>
            <a:r>
              <a:rPr sz="1125" b="1">
                <a:solidFill>
                  <a:srgbClr val="3D8DFF"/>
                </a:solidFill>
                <a:latin typeface="Arial"/>
                <a:ea typeface="Arial"/>
                <a:cs typeface="Arial"/>
              </a:rPr>
              <a:t>COMBINED</a:t>
            </a:r>
          </a:p>
        </p:txBody>
      </p:sp>
      <p:sp>
        <p:nvSpPr>
          <p:cNvPr id="21" name="">
            <a:extLst xmlns:a="http://schemas.openxmlformats.org/drawingml/2006/main">
              <a:ext uri="{FF2B5EF4-FFF2-40B4-BE49-F238E27FC236}">
                <a16:creationId xmlns:a16="http://schemas.microsoft.com/office/drawing/2014/main" id="{482E675C-B0ED-4C69-B457-A6CA2AA8A524}"/>
              </a:ext>
            </a:extLst>
          </p:cNvPr>
          <p:cNvSpPr>
            <a:spLocks xmlns:a="http://schemas.openxmlformats.org/drawingml/2006/main" noGrp="1"/>
          </p:cNvSpPr>
          <p:nvPr/>
        </p:nvSpPr>
        <p:spPr>
          <a:xfrm xmlns:a="http://schemas.openxmlformats.org/drawingml/2006/main">
            <a:off x="8934450" y="5372100"/>
            <a:ext cx="2533650" cy="514350"/>
          </a:xfrm>
          <a:prstGeom xmlns:a="http://schemas.openxmlformats.org/drawingml/2006/main" prst="roundRect">
            <a:avLst>
              <a:gd name="adj" fmla="val 11111"/>
            </a:avLst>
          </a:prstGeom>
          <a:solidFill xmlns:a="http://schemas.openxmlformats.org/drawingml/2006/main">
            <a:srgbClr val="F1F4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E307A8C-B947-462E-B0A2-89E1A0D1D6DF}"/>
              </a:ext>
            </a:extLst>
          </p:cNvPr>
          <p:cNvSpPr>
            <a:spLocks xmlns:a="http://schemas.openxmlformats.org/drawingml/2006/main" noGrp="1"/>
          </p:cNvSpPr>
          <p:nvPr/>
        </p:nvSpPr>
        <p:spPr>
          <a:xfrm xmlns:a="http://schemas.openxmlformats.org/drawingml/2006/main">
            <a:off x="8934450" y="54768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B162C"/>
                </a:solidFill>
                <a:latin typeface="Arial"/>
                <a:ea typeface="Arial"/>
                <a:cs typeface="Arial"/>
              </a:defRPr>
            </a:pPr>
            <a:r>
              <a:rPr sz="1125" b="1">
                <a:solidFill>
                  <a:srgbClr val="0B162C"/>
                </a:solidFill>
                <a:latin typeface="Arial"/>
                <a:ea typeface="Arial"/>
                <a:cs typeface="Arial"/>
              </a:rPr>
              <a:t>DRAFT</a:t>
            </a:r>
          </a:p>
        </p:txBody>
      </p:sp>
    </p:spTree>
    <p:extLst>
      <p:ext uri="{BB962C8B-B14F-4D97-AF65-F5344CB8AC3E}">
        <p14:creationId xmlns:p14="http://schemas.microsoft.com/office/powerpoint/2010/main" val="19278659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765D3E-E753-4A8D-97A6-FE48E71A7E69}"/>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PRODUCT EVIDENCE</a:t>
            </a:r>
          </a:p>
        </p:txBody>
      </p:sp>
      <p:sp>
        <p:nvSpPr>
          <p:cNvPr id="2" name="">
            <a:extLst xmlns:a="http://schemas.openxmlformats.org/drawingml/2006/main">
              <a:ext uri="{FF2B5EF4-FFF2-40B4-BE49-F238E27FC236}">
                <a16:creationId xmlns:a16="http://schemas.microsoft.com/office/drawing/2014/main" id="{34E9E6ED-660A-4C18-9CAA-C0CEFE68BA3F}"/>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The UI exposes route, evidence, and timing</a:t>
            </a:r>
          </a:p>
        </p:txBody>
      </p:sp>
      <p:cxnSp>
        <p:nvCxnSpPr>
          <p:cNvPr id="13"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8BE22ADF-DE36-4DAB-A1F0-D616A5CD152F}"/>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B11C647-6232-4A36-A833-636ECF6CDF63}"/>
              </a:ext>
            </a:extLst>
          </p:cNvPr>
          <p:cNvSpPr>
            <a:spLocks xmlns:a="http://schemas.openxmlformats.org/drawingml/2006/main" noGrp="1"/>
          </p:cNvSpPr>
          <p:nvPr/>
        </p:nvSpPr>
        <p:spPr>
          <a:xfrm xmlns:a="http://schemas.openxmlformats.org/drawingml/2006/main">
            <a:off x="476250" y="1619250"/>
            <a:ext cx="5391150" cy="4210050"/>
          </a:xfrm>
          <a:prstGeom xmlns:a="http://schemas.openxmlformats.org/drawingml/2006/main" prst="roundRect">
            <a:avLst>
              <a:gd name="adj" fmla="val 2262"/>
            </a:avLst>
          </a:prstGeom>
          <a:solidFill xmlns:a="http://schemas.openxmlformats.org/drawingml/2006/main">
            <a:srgbClr val="FFFFFF"/>
          </a:solidFill>
          <a:ln xmlns:a="http://schemas.openxmlformats.org/drawingml/2006/main" w="9525">
            <a:solidFill>
              <a:srgbClr val="C8D0D9"/>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05a3dd04dfb4cdb"/>
          <a:stretch xmlns:a="http://schemas.openxmlformats.org/drawingml/2006/main"/>
        </p:blipFill>
        <p:spPr>
          <a:xfrm xmlns:a="http://schemas.openxmlformats.org/drawingml/2006/main">
            <a:off x="533400" y="2240161"/>
            <a:ext cx="5276850" cy="2968228"/>
          </a:xfrm>
          <a:prstGeom xmlns:a="http://schemas.openxmlformats.org/drawingml/2006/main" prst="roundRect">
            <a:avLst>
              <a:gd name="adj" fmla="val 1860"/>
            </a:avLst>
          </a:prstGeom>
        </p:spPr>
      </p:pic>
      <p:sp>
        <p:nvSpPr>
          <p:cNvPr id="7" name="">
            <a:extLst xmlns:a="http://schemas.openxmlformats.org/drawingml/2006/main">
              <a:ext uri="{FF2B5EF4-FFF2-40B4-BE49-F238E27FC236}">
                <a16:creationId xmlns:a16="http://schemas.microsoft.com/office/drawing/2014/main" id="{07CA8643-73EC-4B1A-98B9-DFC2A1F5ABE1}"/>
              </a:ext>
            </a:extLst>
          </p:cNvPr>
          <p:cNvSpPr>
            <a:spLocks xmlns:a="http://schemas.openxmlformats.org/drawingml/2006/main" noGrp="1"/>
          </p:cNvSpPr>
          <p:nvPr/>
        </p:nvSpPr>
        <p:spPr>
          <a:xfrm xmlns:a="http://schemas.openxmlformats.org/drawingml/2006/main">
            <a:off x="6324600" y="1619250"/>
            <a:ext cx="5391150" cy="4210050"/>
          </a:xfrm>
          <a:prstGeom xmlns:a="http://schemas.openxmlformats.org/drawingml/2006/main" prst="roundRect">
            <a:avLst>
              <a:gd name="adj" fmla="val 2262"/>
            </a:avLst>
          </a:prstGeom>
          <a:solidFill xmlns:a="http://schemas.openxmlformats.org/drawingml/2006/main">
            <a:srgbClr val="FFFFFF"/>
          </a:solidFill>
          <a:ln xmlns:a="http://schemas.openxmlformats.org/drawingml/2006/main" w="9525">
            <a:solidFill>
              <a:srgbClr val="C8D0D9"/>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b30f7d5057c4c3b"/>
          <a:stretch xmlns:a="http://schemas.openxmlformats.org/drawingml/2006/main"/>
        </p:blipFill>
        <p:spPr>
          <a:xfrm xmlns:a="http://schemas.openxmlformats.org/drawingml/2006/main">
            <a:off x="6381750" y="2240161"/>
            <a:ext cx="5276850" cy="2968228"/>
          </a:xfrm>
          <a:prstGeom xmlns:a="http://schemas.openxmlformats.org/drawingml/2006/main" prst="roundRect">
            <a:avLst>
              <a:gd name="adj" fmla="val 1860"/>
            </a:avLst>
          </a:prstGeom>
        </p:spPr>
      </p:pic>
      <p:sp>
        <p:nvSpPr>
          <p:cNvPr id="9" name="">
            <a:extLst xmlns:a="http://schemas.openxmlformats.org/drawingml/2006/main">
              <a:ext uri="{FF2B5EF4-FFF2-40B4-BE49-F238E27FC236}">
                <a16:creationId xmlns:a16="http://schemas.microsoft.com/office/drawing/2014/main" id="{31034281-87D1-4116-A431-F064F77083CE}"/>
              </a:ext>
            </a:extLst>
          </p:cNvPr>
          <p:cNvSpPr>
            <a:spLocks xmlns:a="http://schemas.openxmlformats.org/drawingml/2006/main" noGrp="1"/>
          </p:cNvSpPr>
          <p:nvPr/>
        </p:nvSpPr>
        <p:spPr>
          <a:xfrm xmlns:a="http://schemas.openxmlformats.org/drawingml/2006/main">
            <a:off x="704850" y="58674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POLICIES · scoped evidence</a:t>
            </a:r>
          </a:p>
        </p:txBody>
      </p:sp>
      <p:sp>
        <p:nvSpPr>
          <p:cNvPr id="10" name="">
            <a:extLst xmlns:a="http://schemas.openxmlformats.org/drawingml/2006/main">
              <a:ext uri="{FF2B5EF4-FFF2-40B4-BE49-F238E27FC236}">
                <a16:creationId xmlns:a16="http://schemas.microsoft.com/office/drawing/2014/main" id="{1AAED666-EA94-48F4-9CF0-F0661FEFB0BB}"/>
              </a:ext>
            </a:extLst>
          </p:cNvPr>
          <p:cNvSpPr>
            <a:spLocks xmlns:a="http://schemas.openxmlformats.org/drawingml/2006/main" noGrp="1"/>
          </p:cNvSpPr>
          <p:nvPr/>
        </p:nvSpPr>
        <p:spPr>
          <a:xfrm xmlns:a="http://schemas.openxmlformats.org/drawingml/2006/main">
            <a:off x="6553200" y="58674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COMBINED · policy + current web</a:t>
            </a:r>
          </a:p>
        </p:txBody>
      </p:sp>
    </p:spTree>
    <p:extLst>
      <p:ext uri="{BB962C8B-B14F-4D97-AF65-F5344CB8AC3E}">
        <p14:creationId xmlns:p14="http://schemas.microsoft.com/office/powerpoint/2010/main" val="17164784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6AF7B12-D327-4A3D-8C5B-6AF13EBAA254}"/>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EVALUATION</a:t>
            </a:r>
          </a:p>
        </p:txBody>
      </p:sp>
      <p:sp>
        <p:nvSpPr>
          <p:cNvPr id="2" name="">
            <a:extLst xmlns:a="http://schemas.openxmlformats.org/drawingml/2006/main">
              <a:ext uri="{FF2B5EF4-FFF2-40B4-BE49-F238E27FC236}">
                <a16:creationId xmlns:a16="http://schemas.microsoft.com/office/drawing/2014/main" id="{F59C27DD-7ED6-4599-A132-10B74F30C258}"/>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26"/>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Three metric families answer three different quality questions</a:t>
            </a:r>
          </a:p>
        </p:txBody>
      </p:sp>
      <p:cxnSp>
        <p:nvCxnSpPr>
          <p:cNvPr id="35"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EEA38968-1895-45EB-B11A-3F7DF371F44D}"/>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F9A6D42-AEE1-4ADB-98DF-9FDA3EE0AF43}"/>
              </a:ext>
            </a:extLst>
          </p:cNvPr>
          <p:cNvSpPr>
            <a:spLocks xmlns:a="http://schemas.openxmlformats.org/drawingml/2006/main" noGrp="1"/>
          </p:cNvSpPr>
          <p:nvPr/>
        </p:nvSpPr>
        <p:spPr>
          <a:xfrm xmlns:a="http://schemas.openxmlformats.org/drawingml/2006/main">
            <a:off x="533400" y="1714500"/>
            <a:ext cx="3333750" cy="3943350"/>
          </a:xfrm>
          <a:prstGeom xmlns:a="http://schemas.openxmlformats.org/drawingml/2006/main" prst="roundRect">
            <a:avLst>
              <a:gd name="adj" fmla="val 2286"/>
            </a:avLst>
          </a:prstGeom>
          <a:solidFill xmlns:a="http://schemas.openxmlformats.org/drawingml/2006/main">
            <a:srgbClr val="F1F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1E86F0-C2F5-4DE2-8666-FD79265C08D1}"/>
              </a:ext>
            </a:extLst>
          </p:cNvPr>
          <p:cNvSpPr>
            <a:spLocks xmlns:a="http://schemas.openxmlformats.org/drawingml/2006/main" noGrp="1"/>
          </p:cNvSpPr>
          <p:nvPr/>
        </p:nvSpPr>
        <p:spPr>
          <a:xfrm xmlns:a="http://schemas.openxmlformats.org/drawingml/2006/main">
            <a:off x="533400" y="1714500"/>
            <a:ext cx="33337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B37000-EBA7-4DB7-88F4-710776368B95}"/>
              </a:ext>
            </a:extLst>
          </p:cNvPr>
          <p:cNvSpPr>
            <a:spLocks xmlns:a="http://schemas.openxmlformats.org/drawingml/2006/main" noGrp="1"/>
          </p:cNvSpPr>
          <p:nvPr/>
        </p:nvSpPr>
        <p:spPr>
          <a:xfrm xmlns:a="http://schemas.openxmlformats.org/drawingml/2006/main">
            <a:off x="762000" y="20383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RETRIEVAL</a:t>
            </a:r>
          </a:p>
        </p:txBody>
      </p:sp>
      <p:sp>
        <p:nvSpPr>
          <p:cNvPr id="8" name="">
            <a:extLst xmlns:a="http://schemas.openxmlformats.org/drawingml/2006/main">
              <a:ext uri="{FF2B5EF4-FFF2-40B4-BE49-F238E27FC236}">
                <a16:creationId xmlns:a16="http://schemas.microsoft.com/office/drawing/2014/main" id="{923FC4A8-2920-408E-86B8-4C7425E4330B}"/>
              </a:ext>
            </a:extLst>
          </p:cNvPr>
          <p:cNvSpPr>
            <a:spLocks xmlns:a="http://schemas.openxmlformats.org/drawingml/2006/main" noGrp="1"/>
          </p:cNvSpPr>
          <p:nvPr/>
        </p:nvSpPr>
        <p:spPr>
          <a:xfrm xmlns:a="http://schemas.openxmlformats.org/drawingml/2006/main">
            <a:off x="762000" y="2419350"/>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B162C"/>
                </a:solidFill>
                <a:latin typeface="Arial"/>
                <a:ea typeface="Arial"/>
                <a:cs typeface="Arial"/>
              </a:defRPr>
            </a:pPr>
            <a:r>
              <a:rPr sz="1575" b="1">
                <a:solidFill>
                  <a:srgbClr val="0B162C"/>
                </a:solidFill>
                <a:latin typeface="Arial"/>
                <a:ea typeface="Arial"/>
                <a:cs typeface="Arial"/>
              </a:rPr>
              <a:t>Did we retrieve the right chunks?</a:t>
            </a:r>
          </a:p>
        </p:txBody>
      </p:sp>
      <p:sp>
        <p:nvSpPr>
          <p:cNvPr id="9" name="">
            <a:extLst xmlns:a="http://schemas.openxmlformats.org/drawingml/2006/main">
              <a:ext uri="{FF2B5EF4-FFF2-40B4-BE49-F238E27FC236}">
                <a16:creationId xmlns:a16="http://schemas.microsoft.com/office/drawing/2014/main" id="{003B9752-CFF9-47F5-8CFB-F491ECE40A85}"/>
              </a:ext>
            </a:extLst>
          </p:cNvPr>
          <p:cNvSpPr>
            <a:spLocks xmlns:a="http://schemas.openxmlformats.org/drawingml/2006/main" noGrp="1"/>
          </p:cNvSpPr>
          <p:nvPr/>
        </p:nvSpPr>
        <p:spPr>
          <a:xfrm xmlns:a="http://schemas.openxmlformats.org/drawingml/2006/main">
            <a:off x="762000" y="32575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B162C"/>
                </a:solidFill>
                <a:latin typeface="Arial"/>
                <a:ea typeface="Arial"/>
                <a:cs typeface="Arial"/>
              </a:defRPr>
            </a:pPr>
            <a:r>
              <a:rPr sz="1725" b="1">
                <a:solidFill>
                  <a:srgbClr val="0B162C"/>
                </a:solidFill>
                <a:latin typeface="Arial"/>
                <a:ea typeface="Arial"/>
                <a:cs typeface="Arial"/>
              </a:rPr>
              <a:t>Hit@5  1.0000</a:t>
            </a:r>
          </a:p>
        </p:txBody>
      </p:sp>
      <p:sp>
        <p:nvSpPr>
          <p:cNvPr id="10" name="">
            <a:extLst xmlns:a="http://schemas.openxmlformats.org/drawingml/2006/main">
              <a:ext uri="{FF2B5EF4-FFF2-40B4-BE49-F238E27FC236}">
                <a16:creationId xmlns:a16="http://schemas.microsoft.com/office/drawing/2014/main" id="{102150A3-5AF3-4CA6-8108-7F1D657004B4}"/>
              </a:ext>
            </a:extLst>
          </p:cNvPr>
          <p:cNvSpPr>
            <a:spLocks xmlns:a="http://schemas.openxmlformats.org/drawingml/2006/main" noGrp="1"/>
          </p:cNvSpPr>
          <p:nvPr/>
        </p:nvSpPr>
        <p:spPr>
          <a:xfrm xmlns:a="http://schemas.openxmlformats.org/drawingml/2006/main">
            <a:off x="762000" y="37719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Recall@5  0.9341</a:t>
            </a:r>
          </a:p>
        </p:txBody>
      </p:sp>
      <p:sp>
        <p:nvSpPr>
          <p:cNvPr id="11" name="">
            <a:extLst xmlns:a="http://schemas.openxmlformats.org/drawingml/2006/main">
              <a:ext uri="{FF2B5EF4-FFF2-40B4-BE49-F238E27FC236}">
                <a16:creationId xmlns:a16="http://schemas.microsoft.com/office/drawing/2014/main" id="{4C5FBE28-FE2A-41FF-940B-49B1BA6B9973}"/>
              </a:ext>
            </a:extLst>
          </p:cNvPr>
          <p:cNvSpPr>
            <a:spLocks xmlns:a="http://schemas.openxmlformats.org/drawingml/2006/main" noGrp="1"/>
          </p:cNvSpPr>
          <p:nvPr/>
        </p:nvSpPr>
        <p:spPr>
          <a:xfrm xmlns:a="http://schemas.openxmlformats.org/drawingml/2006/main">
            <a:off x="762000" y="42862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MRR  0.8078</a:t>
            </a:r>
          </a:p>
        </p:txBody>
      </p:sp>
      <p:cxnSp>
        <p:nvCxnSpPr>
          <p:cNvPr id="44" name=""/>
          <p:cNvCxnSpPr/>
          <p:nvPr/>
        </p:nvCxnSpPr>
        <p:spPr>
          <a:xfrm xmlns:a="http://schemas.openxmlformats.org/drawingml/2006/main">
            <a:off x="762000" y="4895850"/>
            <a:ext cx="2876550" cy="0"/>
          </a:xfrm>
          <a:prstGeom xmlns:a="http://schemas.openxmlformats.org/drawingml/2006/main" prst="straightConnector1">
            <a:avLst/>
          </a:prstGeom>
          <a:ln xmlns:a="http://schemas.openxmlformats.org/drawingml/2006/main" w="9525">
            <a:solidFill>
              <a:srgbClr val="C8D0D9"/>
            </a:solidFill>
            <a:prstDash val="solid"/>
          </a:ln>
        </p:spPr>
      </p:cxnSp>
      <p:sp>
        <p:nvSpPr>
          <p:cNvPr id="13" name="">
            <a:extLst xmlns:a="http://schemas.openxmlformats.org/drawingml/2006/main">
              <a:ext uri="{FF2B5EF4-FFF2-40B4-BE49-F238E27FC236}">
                <a16:creationId xmlns:a16="http://schemas.microsoft.com/office/drawing/2014/main" id="{75D9B6DC-B29E-4F9D-B738-FD84E708E67D}"/>
              </a:ext>
            </a:extLst>
          </p:cNvPr>
          <p:cNvSpPr>
            <a:spLocks xmlns:a="http://schemas.openxmlformats.org/drawingml/2006/main" noGrp="1"/>
          </p:cNvSpPr>
          <p:nvPr/>
        </p:nvSpPr>
        <p:spPr>
          <a:xfrm xmlns:a="http://schemas.openxmlformats.org/drawingml/2006/main">
            <a:off x="762000" y="50673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36171"/>
                </a:solidFill>
                <a:latin typeface="Arial"/>
                <a:ea typeface="Arial"/>
                <a:cs typeface="Arial"/>
              </a:defRPr>
            </a:pPr>
            <a:r>
              <a:rPr sz="1125" b="0">
                <a:solidFill>
                  <a:srgbClr val="536171"/>
                </a:solidFill>
                <a:latin typeface="Arial"/>
                <a:ea typeface="Arial"/>
                <a:cs typeface="Arial"/>
              </a:rPr>
              <a:t>52 curated cases · 43 labeled</a:t>
            </a:r>
          </a:p>
        </p:txBody>
      </p:sp>
      <p:sp>
        <p:nvSpPr>
          <p:cNvPr id="14" name="">
            <a:extLst xmlns:a="http://schemas.openxmlformats.org/drawingml/2006/main">
              <a:ext uri="{FF2B5EF4-FFF2-40B4-BE49-F238E27FC236}">
                <a16:creationId xmlns:a16="http://schemas.microsoft.com/office/drawing/2014/main" id="{0E016948-7A57-4593-82ED-B1C7D5EF8669}"/>
              </a:ext>
            </a:extLst>
          </p:cNvPr>
          <p:cNvSpPr>
            <a:spLocks xmlns:a="http://schemas.openxmlformats.org/drawingml/2006/main" noGrp="1"/>
          </p:cNvSpPr>
          <p:nvPr/>
        </p:nvSpPr>
        <p:spPr>
          <a:xfrm xmlns:a="http://schemas.openxmlformats.org/drawingml/2006/main">
            <a:off x="4286250" y="1714500"/>
            <a:ext cx="3333750" cy="3943350"/>
          </a:xfrm>
          <a:prstGeom xmlns:a="http://schemas.openxmlformats.org/drawingml/2006/main" prst="roundRect">
            <a:avLst>
              <a:gd name="adj" fmla="val 2286"/>
            </a:avLst>
          </a:prstGeom>
          <a:solidFill xmlns:a="http://schemas.openxmlformats.org/drawingml/2006/main">
            <a:srgbClr val="F1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C3757F-5C9B-4A94-B3CA-2EABCBBB3688}"/>
              </a:ext>
            </a:extLst>
          </p:cNvPr>
          <p:cNvSpPr>
            <a:spLocks xmlns:a="http://schemas.openxmlformats.org/drawingml/2006/main" noGrp="1"/>
          </p:cNvSpPr>
          <p:nvPr/>
        </p:nvSpPr>
        <p:spPr>
          <a:xfrm xmlns:a="http://schemas.openxmlformats.org/drawingml/2006/main">
            <a:off x="4286250" y="1714500"/>
            <a:ext cx="3333750" cy="76200"/>
          </a:xfrm>
          <a:prstGeom xmlns:a="http://schemas.openxmlformats.org/drawingml/2006/main" prst="rect">
            <a:avLst/>
          </a:prstGeom>
          <a:solidFill xmlns:a="http://schemas.openxmlformats.org/drawingml/2006/main">
            <a:srgbClr val="00D6A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CB0F0C6-8741-4FD3-A060-5219F6E626C1}"/>
              </a:ext>
            </a:extLst>
          </p:cNvPr>
          <p:cNvSpPr>
            <a:spLocks xmlns:a="http://schemas.openxmlformats.org/drawingml/2006/main" noGrp="1"/>
          </p:cNvSpPr>
          <p:nvPr/>
        </p:nvSpPr>
        <p:spPr>
          <a:xfrm xmlns:a="http://schemas.openxmlformats.org/drawingml/2006/main">
            <a:off x="4514850" y="20383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0D6A3"/>
                </a:solidFill>
                <a:latin typeface="Arial"/>
                <a:ea typeface="Arial"/>
                <a:cs typeface="Arial"/>
              </a:defRPr>
            </a:pPr>
            <a:r>
              <a:rPr sz="1275" b="1">
                <a:solidFill>
                  <a:srgbClr val="00D6A3"/>
                </a:solidFill>
                <a:latin typeface="Arial"/>
                <a:ea typeface="Arial"/>
                <a:cs typeface="Arial"/>
              </a:rPr>
              <a:t>RAGAS</a:t>
            </a:r>
          </a:p>
        </p:txBody>
      </p:sp>
      <p:sp>
        <p:nvSpPr>
          <p:cNvPr id="17" name="">
            <a:extLst xmlns:a="http://schemas.openxmlformats.org/drawingml/2006/main">
              <a:ext uri="{FF2B5EF4-FFF2-40B4-BE49-F238E27FC236}">
                <a16:creationId xmlns:a16="http://schemas.microsoft.com/office/drawing/2014/main" id="{2333EBEA-2E14-4129-879C-E64A45E7CD7C}"/>
              </a:ext>
            </a:extLst>
          </p:cNvPr>
          <p:cNvSpPr>
            <a:spLocks xmlns:a="http://schemas.openxmlformats.org/drawingml/2006/main" noGrp="1"/>
          </p:cNvSpPr>
          <p:nvPr/>
        </p:nvSpPr>
        <p:spPr>
          <a:xfrm xmlns:a="http://schemas.openxmlformats.org/drawingml/2006/main">
            <a:off x="4514850" y="2419350"/>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B162C"/>
                </a:solidFill>
                <a:latin typeface="Arial"/>
                <a:ea typeface="Arial"/>
                <a:cs typeface="Arial"/>
              </a:defRPr>
            </a:pPr>
            <a:r>
              <a:rPr sz="1575" b="1">
                <a:solidFill>
                  <a:srgbClr val="0B162C"/>
                </a:solidFill>
                <a:latin typeface="Arial"/>
                <a:ea typeface="Arial"/>
                <a:cs typeface="Arial"/>
              </a:rPr>
              <a:t>Is the answer relevant and grounded?</a:t>
            </a:r>
          </a:p>
        </p:txBody>
      </p:sp>
      <p:sp>
        <p:nvSpPr>
          <p:cNvPr id="18" name="">
            <a:extLst xmlns:a="http://schemas.openxmlformats.org/drawingml/2006/main">
              <a:ext uri="{FF2B5EF4-FFF2-40B4-BE49-F238E27FC236}">
                <a16:creationId xmlns:a16="http://schemas.microsoft.com/office/drawing/2014/main" id="{ACAF555A-8EA2-4440-9029-9B1C43651A8E}"/>
              </a:ext>
            </a:extLst>
          </p:cNvPr>
          <p:cNvSpPr>
            <a:spLocks xmlns:a="http://schemas.openxmlformats.org/drawingml/2006/main" noGrp="1"/>
          </p:cNvSpPr>
          <p:nvPr/>
        </p:nvSpPr>
        <p:spPr>
          <a:xfrm xmlns:a="http://schemas.openxmlformats.org/drawingml/2006/main">
            <a:off x="4514850" y="32575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B162C"/>
                </a:solidFill>
                <a:latin typeface="Arial"/>
                <a:ea typeface="Arial"/>
                <a:cs typeface="Arial"/>
              </a:defRPr>
            </a:pPr>
            <a:r>
              <a:rPr sz="1725" b="1">
                <a:solidFill>
                  <a:srgbClr val="0B162C"/>
                </a:solidFill>
                <a:latin typeface="Arial"/>
                <a:ea typeface="Arial"/>
                <a:cs typeface="Arial"/>
              </a:rPr>
              <a:t>Answer  0.7053</a:t>
            </a:r>
          </a:p>
        </p:txBody>
      </p:sp>
      <p:sp>
        <p:nvSpPr>
          <p:cNvPr id="19" name="">
            <a:extLst xmlns:a="http://schemas.openxmlformats.org/drawingml/2006/main">
              <a:ext uri="{FF2B5EF4-FFF2-40B4-BE49-F238E27FC236}">
                <a16:creationId xmlns:a16="http://schemas.microsoft.com/office/drawing/2014/main" id="{51E004EF-DB70-49E0-AB73-5515343DB24D}"/>
              </a:ext>
            </a:extLst>
          </p:cNvPr>
          <p:cNvSpPr>
            <a:spLocks xmlns:a="http://schemas.openxmlformats.org/drawingml/2006/main" noGrp="1"/>
          </p:cNvSpPr>
          <p:nvPr/>
        </p:nvSpPr>
        <p:spPr>
          <a:xfrm xmlns:a="http://schemas.openxmlformats.org/drawingml/2006/main">
            <a:off x="4514850" y="37719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Context  0.9792</a:t>
            </a:r>
          </a:p>
        </p:txBody>
      </p:sp>
      <p:sp>
        <p:nvSpPr>
          <p:cNvPr id="20" name="">
            <a:extLst xmlns:a="http://schemas.openxmlformats.org/drawingml/2006/main">
              <a:ext uri="{FF2B5EF4-FFF2-40B4-BE49-F238E27FC236}">
                <a16:creationId xmlns:a16="http://schemas.microsoft.com/office/drawing/2014/main" id="{31C1FFF3-CD2A-402C-AC73-E66A9FECD2CF}"/>
              </a:ext>
            </a:extLst>
          </p:cNvPr>
          <p:cNvSpPr>
            <a:spLocks xmlns:a="http://schemas.openxmlformats.org/drawingml/2006/main" noGrp="1"/>
          </p:cNvSpPr>
          <p:nvPr/>
        </p:nvSpPr>
        <p:spPr>
          <a:xfrm xmlns:a="http://schemas.openxmlformats.org/drawingml/2006/main">
            <a:off x="4514850" y="42862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Overall  0.8422</a:t>
            </a:r>
          </a:p>
        </p:txBody>
      </p:sp>
      <p:cxnSp>
        <p:nvCxnSpPr>
          <p:cNvPr id="53" name=""/>
          <p:cNvCxnSpPr/>
          <p:nvPr/>
        </p:nvCxnSpPr>
        <p:spPr>
          <a:xfrm xmlns:a="http://schemas.openxmlformats.org/drawingml/2006/main">
            <a:off x="4514850" y="4895850"/>
            <a:ext cx="2876550" cy="0"/>
          </a:xfrm>
          <a:prstGeom xmlns:a="http://schemas.openxmlformats.org/drawingml/2006/main" prst="straightConnector1">
            <a:avLst/>
          </a:prstGeom>
          <a:ln xmlns:a="http://schemas.openxmlformats.org/drawingml/2006/main" w="9525">
            <a:solidFill>
              <a:srgbClr val="C8D0D9"/>
            </a:solidFill>
            <a:prstDash val="solid"/>
          </a:ln>
        </p:spPr>
      </p:cxnSp>
      <p:sp>
        <p:nvSpPr>
          <p:cNvPr id="22" name="">
            <a:extLst xmlns:a="http://schemas.openxmlformats.org/drawingml/2006/main">
              <a:ext uri="{FF2B5EF4-FFF2-40B4-BE49-F238E27FC236}">
                <a16:creationId xmlns:a16="http://schemas.microsoft.com/office/drawing/2014/main" id="{465B34FC-005B-4D17-8D75-30B6C8AFAE0E}"/>
              </a:ext>
            </a:extLst>
          </p:cNvPr>
          <p:cNvSpPr>
            <a:spLocks xmlns:a="http://schemas.openxmlformats.org/drawingml/2006/main" noGrp="1"/>
          </p:cNvSpPr>
          <p:nvPr/>
        </p:nvSpPr>
        <p:spPr>
          <a:xfrm xmlns:a="http://schemas.openxmlformats.org/drawingml/2006/main">
            <a:off x="4514850" y="50673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36171"/>
                </a:solidFill>
                <a:latin typeface="Arial"/>
                <a:ea typeface="Arial"/>
                <a:cs typeface="Arial"/>
              </a:defRPr>
            </a:pPr>
            <a:r>
              <a:rPr sz="1125" b="0">
                <a:solidFill>
                  <a:srgbClr val="536171"/>
                </a:solidFill>
                <a:latin typeface="Arial"/>
                <a:ea typeface="Arial"/>
                <a:cs typeface="Arial"/>
              </a:rPr>
              <a:t>12-case cost-controlled baseline</a:t>
            </a:r>
          </a:p>
        </p:txBody>
      </p:sp>
      <p:sp>
        <p:nvSpPr>
          <p:cNvPr id="23" name="">
            <a:extLst xmlns:a="http://schemas.openxmlformats.org/drawingml/2006/main">
              <a:ext uri="{FF2B5EF4-FFF2-40B4-BE49-F238E27FC236}">
                <a16:creationId xmlns:a16="http://schemas.microsoft.com/office/drawing/2014/main" id="{33EB0EE8-F403-4B3A-8650-B5A49F66A930}"/>
              </a:ext>
            </a:extLst>
          </p:cNvPr>
          <p:cNvSpPr>
            <a:spLocks xmlns:a="http://schemas.openxmlformats.org/drawingml/2006/main" noGrp="1"/>
          </p:cNvSpPr>
          <p:nvPr/>
        </p:nvSpPr>
        <p:spPr>
          <a:xfrm xmlns:a="http://schemas.openxmlformats.org/drawingml/2006/main">
            <a:off x="8039100" y="1714500"/>
            <a:ext cx="3333750" cy="3943350"/>
          </a:xfrm>
          <a:prstGeom xmlns:a="http://schemas.openxmlformats.org/drawingml/2006/main" prst="roundRect">
            <a:avLst>
              <a:gd name="adj" fmla="val 2286"/>
            </a:avLst>
          </a:prstGeom>
          <a:solidFill xmlns:a="http://schemas.openxmlformats.org/drawingml/2006/main">
            <a:srgbClr val="F1F4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02B6913-4044-4ADB-A12C-3EF7A9F8456D}"/>
              </a:ext>
            </a:extLst>
          </p:cNvPr>
          <p:cNvSpPr>
            <a:spLocks xmlns:a="http://schemas.openxmlformats.org/drawingml/2006/main" noGrp="1"/>
          </p:cNvSpPr>
          <p:nvPr/>
        </p:nvSpPr>
        <p:spPr>
          <a:xfrm xmlns:a="http://schemas.openxmlformats.org/drawingml/2006/main">
            <a:off x="8039100" y="1714500"/>
            <a:ext cx="3333750" cy="76200"/>
          </a:xfrm>
          <a:prstGeom xmlns:a="http://schemas.openxmlformats.org/drawingml/2006/main" prst="rect">
            <a:avLst/>
          </a:prstGeom>
          <a:solidFill xmlns:a="http://schemas.openxmlformats.org/drawingml/2006/main">
            <a:srgbClr val="F3B3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7BC2435-4BE5-44AA-AFFE-6016AA6D7F18}"/>
              </a:ext>
            </a:extLst>
          </p:cNvPr>
          <p:cNvSpPr>
            <a:spLocks xmlns:a="http://schemas.openxmlformats.org/drawingml/2006/main" noGrp="1"/>
          </p:cNvSpPr>
          <p:nvPr/>
        </p:nvSpPr>
        <p:spPr>
          <a:xfrm xmlns:a="http://schemas.openxmlformats.org/drawingml/2006/main">
            <a:off x="8267700" y="20383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3B33D"/>
                </a:solidFill>
                <a:latin typeface="Arial"/>
                <a:ea typeface="Arial"/>
                <a:cs typeface="Arial"/>
              </a:defRPr>
            </a:pPr>
            <a:r>
              <a:rPr sz="1275" b="1">
                <a:solidFill>
                  <a:srgbClr val="F3B33D"/>
                </a:solidFill>
                <a:latin typeface="Arial"/>
                <a:ea typeface="Arial"/>
                <a:cs typeface="Arial"/>
              </a:rPr>
              <a:t>LATENCY</a:t>
            </a:r>
          </a:p>
        </p:txBody>
      </p:sp>
      <p:sp>
        <p:nvSpPr>
          <p:cNvPr id="26" name="">
            <a:extLst xmlns:a="http://schemas.openxmlformats.org/drawingml/2006/main">
              <a:ext uri="{FF2B5EF4-FFF2-40B4-BE49-F238E27FC236}">
                <a16:creationId xmlns:a16="http://schemas.microsoft.com/office/drawing/2014/main" id="{444C7A08-82AF-42CC-91CD-34FF137E7D5E}"/>
              </a:ext>
            </a:extLst>
          </p:cNvPr>
          <p:cNvSpPr>
            <a:spLocks xmlns:a="http://schemas.openxmlformats.org/drawingml/2006/main" noGrp="1"/>
          </p:cNvSpPr>
          <p:nvPr/>
        </p:nvSpPr>
        <p:spPr>
          <a:xfrm xmlns:a="http://schemas.openxmlformats.org/drawingml/2006/main">
            <a:off x="8267700" y="2419350"/>
            <a:ext cx="2876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B162C"/>
                </a:solidFill>
                <a:latin typeface="Arial"/>
                <a:ea typeface="Arial"/>
                <a:cs typeface="Arial"/>
              </a:defRPr>
            </a:pPr>
            <a:r>
              <a:rPr sz="1575" b="1">
                <a:solidFill>
                  <a:srgbClr val="0B162C"/>
                </a:solidFill>
                <a:latin typeface="Arial"/>
                <a:ea typeface="Arial"/>
                <a:cs typeface="Arial"/>
              </a:rPr>
              <a:t>Where does response time go?</a:t>
            </a:r>
          </a:p>
        </p:txBody>
      </p:sp>
      <p:sp>
        <p:nvSpPr>
          <p:cNvPr id="27" name="">
            <a:extLst xmlns:a="http://schemas.openxmlformats.org/drawingml/2006/main">
              <a:ext uri="{FF2B5EF4-FFF2-40B4-BE49-F238E27FC236}">
                <a16:creationId xmlns:a16="http://schemas.microsoft.com/office/drawing/2014/main" id="{FE5CCE09-0955-4BB8-854E-3C1CC32268BF}"/>
              </a:ext>
            </a:extLst>
          </p:cNvPr>
          <p:cNvSpPr>
            <a:spLocks xmlns:a="http://schemas.openxmlformats.org/drawingml/2006/main" noGrp="1"/>
          </p:cNvSpPr>
          <p:nvPr/>
        </p:nvSpPr>
        <p:spPr>
          <a:xfrm xmlns:a="http://schemas.openxmlformats.org/drawingml/2006/main">
            <a:off x="8267700" y="32575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B162C"/>
                </a:solidFill>
                <a:latin typeface="Arial"/>
                <a:ea typeface="Arial"/>
                <a:cs typeface="Arial"/>
              </a:defRPr>
            </a:pPr>
            <a:r>
              <a:rPr sz="1725" b="1">
                <a:solidFill>
                  <a:srgbClr val="0B162C"/>
                </a:solidFill>
                <a:latin typeface="Arial"/>
                <a:ea typeface="Arial"/>
                <a:cs typeface="Arial"/>
              </a:rPr>
              <a:t>To model  0.48 s</a:t>
            </a:r>
          </a:p>
        </p:txBody>
      </p:sp>
      <p:sp>
        <p:nvSpPr>
          <p:cNvPr id="28" name="">
            <a:extLst xmlns:a="http://schemas.openxmlformats.org/drawingml/2006/main">
              <a:ext uri="{FF2B5EF4-FFF2-40B4-BE49-F238E27FC236}">
                <a16:creationId xmlns:a16="http://schemas.microsoft.com/office/drawing/2014/main" id="{420C6BE0-1991-4CA9-8F96-4D7566A906A4}"/>
              </a:ext>
            </a:extLst>
          </p:cNvPr>
          <p:cNvSpPr>
            <a:spLocks xmlns:a="http://schemas.openxmlformats.org/drawingml/2006/main" noGrp="1"/>
          </p:cNvSpPr>
          <p:nvPr/>
        </p:nvSpPr>
        <p:spPr>
          <a:xfrm xmlns:a="http://schemas.openxmlformats.org/drawingml/2006/main">
            <a:off x="8267700" y="37719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Model  4.41 s</a:t>
            </a:r>
          </a:p>
        </p:txBody>
      </p:sp>
      <p:sp>
        <p:nvSpPr>
          <p:cNvPr id="29" name="">
            <a:extLst xmlns:a="http://schemas.openxmlformats.org/drawingml/2006/main">
              <a:ext uri="{FF2B5EF4-FFF2-40B4-BE49-F238E27FC236}">
                <a16:creationId xmlns:a16="http://schemas.microsoft.com/office/drawing/2014/main" id="{23F40A7E-AAFC-4A9F-80A6-13D196BEB965}"/>
              </a:ext>
            </a:extLst>
          </p:cNvPr>
          <p:cNvSpPr>
            <a:spLocks xmlns:a="http://schemas.openxmlformats.org/drawingml/2006/main" noGrp="1"/>
          </p:cNvSpPr>
          <p:nvPr/>
        </p:nvSpPr>
        <p:spPr>
          <a:xfrm xmlns:a="http://schemas.openxmlformats.org/drawingml/2006/main">
            <a:off x="8267700" y="42862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0B162C"/>
                </a:solidFill>
                <a:latin typeface="Arial"/>
                <a:ea typeface="Arial"/>
                <a:cs typeface="Arial"/>
              </a:defRPr>
            </a:pPr>
            <a:r>
              <a:rPr sz="1725" b="0">
                <a:solidFill>
                  <a:srgbClr val="0B162C"/>
                </a:solidFill>
                <a:latin typeface="Arial"/>
                <a:ea typeface="Arial"/>
                <a:cs typeface="Arial"/>
              </a:rPr>
              <a:t>Total  4.89 s</a:t>
            </a:r>
          </a:p>
        </p:txBody>
      </p:sp>
      <p:cxnSp>
        <p:nvCxnSpPr>
          <p:cNvPr id="62" name=""/>
          <p:cNvCxnSpPr/>
          <p:nvPr/>
        </p:nvCxnSpPr>
        <p:spPr>
          <a:xfrm xmlns:a="http://schemas.openxmlformats.org/drawingml/2006/main">
            <a:off x="8267700" y="4895850"/>
            <a:ext cx="2876550" cy="0"/>
          </a:xfrm>
          <a:prstGeom xmlns:a="http://schemas.openxmlformats.org/drawingml/2006/main" prst="straightConnector1">
            <a:avLst/>
          </a:prstGeom>
          <a:ln xmlns:a="http://schemas.openxmlformats.org/drawingml/2006/main" w="9525">
            <a:solidFill>
              <a:srgbClr val="C8D0D9"/>
            </a:solidFill>
            <a:prstDash val="solid"/>
          </a:ln>
        </p:spPr>
      </p:cxnSp>
      <p:sp>
        <p:nvSpPr>
          <p:cNvPr id="31" name="">
            <a:extLst xmlns:a="http://schemas.openxmlformats.org/drawingml/2006/main">
              <a:ext uri="{FF2B5EF4-FFF2-40B4-BE49-F238E27FC236}">
                <a16:creationId xmlns:a16="http://schemas.microsoft.com/office/drawing/2014/main" id="{0C0B50CB-E7E5-4A27-ABF9-2F0B9F0B9AF0}"/>
              </a:ext>
            </a:extLst>
          </p:cNvPr>
          <p:cNvSpPr>
            <a:spLocks xmlns:a="http://schemas.openxmlformats.org/drawingml/2006/main" noGrp="1"/>
          </p:cNvSpPr>
          <p:nvPr/>
        </p:nvSpPr>
        <p:spPr>
          <a:xfrm xmlns:a="http://schemas.openxmlformats.org/drawingml/2006/main">
            <a:off x="8267700" y="506730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36171"/>
                </a:solidFill>
                <a:latin typeface="Arial"/>
                <a:ea typeface="Arial"/>
                <a:cs typeface="Arial"/>
              </a:defRPr>
            </a:pPr>
            <a:r>
              <a:rPr sz="1125" b="0">
                <a:solidFill>
                  <a:srgbClr val="536171"/>
                </a:solidFill>
                <a:latin typeface="Arial"/>
                <a:ea typeface="Arial"/>
                <a:cs typeface="Arial"/>
              </a:rPr>
              <a:t>Means across 12 baseline queries</a:t>
            </a:r>
          </a:p>
        </p:txBody>
      </p:sp>
      <p:sp>
        <p:nvSpPr>
          <p:cNvPr id="32" name="">
            <a:extLst xmlns:a="http://schemas.openxmlformats.org/drawingml/2006/main">
              <a:ext uri="{FF2B5EF4-FFF2-40B4-BE49-F238E27FC236}">
                <a16:creationId xmlns:a16="http://schemas.microsoft.com/office/drawing/2014/main" id="{F75D998A-22F3-4B15-B884-C6C7B47E0FBA}"/>
              </a:ext>
            </a:extLst>
          </p:cNvPr>
          <p:cNvSpPr>
            <a:spLocks xmlns:a="http://schemas.openxmlformats.org/drawingml/2006/main" noGrp="1"/>
          </p:cNvSpPr>
          <p:nvPr/>
        </p:nvSpPr>
        <p:spPr>
          <a:xfrm xmlns:a="http://schemas.openxmlformats.org/drawingml/2006/main">
            <a:off x="533400" y="5962650"/>
            <a:ext cx="1112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536171"/>
                </a:solidFill>
                <a:latin typeface="Arial"/>
                <a:ea typeface="Arial"/>
                <a:cs typeface="Arial"/>
              </a:defRPr>
            </a:pPr>
            <a:r>
              <a:rPr sz="1350" b="1">
                <a:solidFill>
                  <a:srgbClr val="536171"/>
                </a:solidFill>
                <a:latin typeface="Arial"/>
                <a:ea typeface="Arial"/>
                <a:cs typeface="Arial"/>
              </a:rPr>
              <a:t>0.60 is our internal RAGAS health threshold—not a universal industry standard.</a:t>
            </a:r>
          </a:p>
        </p:txBody>
      </p:sp>
    </p:spTree>
    <p:extLst>
      <p:ext uri="{BB962C8B-B14F-4D97-AF65-F5344CB8AC3E}">
        <p14:creationId xmlns:p14="http://schemas.microsoft.com/office/powerpoint/2010/main" val="15001030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4FFAE08-2D38-4754-A97E-F09988D026CD}"/>
              </a:ext>
            </a:extLst>
          </p:cNvPr>
          <p:cNvSpPr>
            <a:spLocks xmlns:a="http://schemas.openxmlformats.org/drawingml/2006/main" noGrp="1"/>
          </p:cNvSpPr>
          <p:nvPr/>
        </p:nvSpPr>
        <p:spPr>
          <a:xfrm xmlns:a="http://schemas.openxmlformats.org/drawingml/2006/main">
            <a:off x="533400" y="3238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QA CERTIFICATION</a:t>
            </a:r>
          </a:p>
        </p:txBody>
      </p:sp>
      <p:sp>
        <p:nvSpPr>
          <p:cNvPr id="2" name="">
            <a:extLst xmlns:a="http://schemas.openxmlformats.org/drawingml/2006/main">
              <a:ext uri="{FF2B5EF4-FFF2-40B4-BE49-F238E27FC236}">
                <a16:creationId xmlns:a16="http://schemas.microsoft.com/office/drawing/2014/main" id="{A26C6F88-620A-4346-ABF7-38238AB2BA36}"/>
              </a:ext>
            </a:extLst>
          </p:cNvPr>
          <p:cNvSpPr>
            <a:spLocks xmlns:a="http://schemas.openxmlformats.org/drawingml/2006/main" noGrp="1"/>
          </p:cNvSpPr>
          <p:nvPr/>
        </p:nvSpPr>
        <p:spPr>
          <a:xfrm xmlns:a="http://schemas.openxmlformats.org/drawingml/2006/main">
            <a:off x="533400" y="6096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B162C"/>
                </a:solidFill>
                <a:latin typeface="Arial"/>
                <a:ea typeface="Arial"/>
                <a:cs typeface="Arial"/>
              </a:defRPr>
            </a:pPr>
            <a:r>
              <a:rPr sz="3000" b="1">
                <a:solidFill>
                  <a:srgbClr val="0B162C"/>
                </a:solidFill>
                <a:latin typeface="Arial"/>
                <a:ea typeface="Arial"/>
                <a:cs typeface="Arial"/>
              </a:rPr>
              <a:t>The release candidate passed every technical gate</a:t>
            </a:r>
          </a:p>
        </p:txBody>
      </p:sp>
      <p:cxnSp>
        <p:nvCxnSpPr>
          <p:cNvPr id="37" name=""/>
          <p:cNvCxnSpPr/>
          <p:nvPr/>
        </p:nvCxnSpPr>
        <p:spPr>
          <a:xfrm xmlns:a="http://schemas.openxmlformats.org/drawingml/2006/main">
            <a:off x="533400" y="137160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4" name="">
            <a:extLst xmlns:a="http://schemas.openxmlformats.org/drawingml/2006/main">
              <a:ext uri="{FF2B5EF4-FFF2-40B4-BE49-F238E27FC236}">
                <a16:creationId xmlns:a16="http://schemas.microsoft.com/office/drawing/2014/main" id="{0BDCC179-3E88-4D79-8416-FB3D75624692}"/>
              </a:ext>
            </a:extLst>
          </p:cNvPr>
          <p:cNvSpPr>
            <a:spLocks xmlns:a="http://schemas.openxmlformats.org/drawingml/2006/main" noGrp="1"/>
          </p:cNvSpPr>
          <p:nvPr/>
        </p:nvSpPr>
        <p:spPr>
          <a:xfrm xmlns:a="http://schemas.openxmlformats.org/drawingml/2006/main">
            <a:off x="11096625" y="63627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p xmlns:a="http://schemas.openxmlformats.org/drawingml/2006/main">
            <a:pPr algn="r">
              <a:defRPr sz="975" b="0">
                <a:solidFill>
                  <a:srgbClr val="536171"/>
                </a:solidFill>
                <a:latin typeface="Arial"/>
                <a:ea typeface="Arial"/>
                <a:cs typeface="Arial"/>
              </a:defRPr>
            </a:pPr>
            <a:r>
              <a:rPr sz="975" b="0">
                <a:solidFill>
                  <a:srgbClr val="53617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AB22B6B-B412-4079-A28E-76F669A70F40}"/>
              </a:ext>
            </a:extLst>
          </p:cNvPr>
          <p:cNvSpPr>
            <a:spLocks xmlns:a="http://schemas.openxmlformats.org/drawingml/2006/main" noGrp="1"/>
          </p:cNvSpPr>
          <p:nvPr/>
        </p:nvSpPr>
        <p:spPr>
          <a:xfrm xmlns:a="http://schemas.openxmlformats.org/drawingml/2006/main">
            <a:off x="533400" y="177165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450" b="1">
                <a:solidFill>
                  <a:srgbClr val="3D8DFF"/>
                </a:solidFill>
                <a:latin typeface="Arial"/>
                <a:ea typeface="Arial"/>
                <a:cs typeface="Arial"/>
              </a:defRPr>
            </a:pPr>
            <a:r>
              <a:rPr sz="3450" b="1">
                <a:solidFill>
                  <a:srgbClr val="3D8DFF"/>
                </a:solidFill>
                <a:latin typeface="Arial"/>
                <a:ea typeface="Arial"/>
                <a:cs typeface="Arial"/>
              </a:rPr>
              <a:t>74</a:t>
            </a:r>
          </a:p>
        </p:txBody>
      </p:sp>
      <p:sp>
        <p:nvSpPr>
          <p:cNvPr id="6" name="">
            <a:extLst xmlns:a="http://schemas.openxmlformats.org/drawingml/2006/main">
              <a:ext uri="{FF2B5EF4-FFF2-40B4-BE49-F238E27FC236}">
                <a16:creationId xmlns:a16="http://schemas.microsoft.com/office/drawing/2014/main" id="{2AE780CF-E636-4D47-A132-EDF7BE7947EE}"/>
              </a:ext>
            </a:extLst>
          </p:cNvPr>
          <p:cNvSpPr>
            <a:spLocks xmlns:a="http://schemas.openxmlformats.org/drawingml/2006/main" noGrp="1"/>
          </p:cNvSpPr>
          <p:nvPr/>
        </p:nvSpPr>
        <p:spPr>
          <a:xfrm xmlns:a="http://schemas.openxmlformats.org/drawingml/2006/main">
            <a:off x="533400" y="247650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36171"/>
                </a:solidFill>
                <a:latin typeface="Arial"/>
                <a:ea typeface="Arial"/>
                <a:cs typeface="Arial"/>
              </a:defRPr>
            </a:pPr>
            <a:r>
              <a:rPr sz="1275" b="0">
                <a:solidFill>
                  <a:srgbClr val="536171"/>
                </a:solidFill>
                <a:latin typeface="Arial"/>
                <a:ea typeface="Arial"/>
                <a:cs typeface="Arial"/>
              </a:rPr>
              <a:t>automated tests passed</a:t>
            </a:r>
          </a:p>
        </p:txBody>
      </p:sp>
      <p:sp>
        <p:nvSpPr>
          <p:cNvPr id="7" name="">
            <a:extLst xmlns:a="http://schemas.openxmlformats.org/drawingml/2006/main">
              <a:ext uri="{FF2B5EF4-FFF2-40B4-BE49-F238E27FC236}">
                <a16:creationId xmlns:a16="http://schemas.microsoft.com/office/drawing/2014/main" id="{06C207C5-3B76-4D8E-8D8E-0B124EF4BA9C}"/>
              </a:ext>
            </a:extLst>
          </p:cNvPr>
          <p:cNvSpPr>
            <a:spLocks xmlns:a="http://schemas.openxmlformats.org/drawingml/2006/main" noGrp="1"/>
          </p:cNvSpPr>
          <p:nvPr/>
        </p:nvSpPr>
        <p:spPr>
          <a:xfrm xmlns:a="http://schemas.openxmlformats.org/drawingml/2006/main">
            <a:off x="3333750" y="177165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450" b="1">
                <a:solidFill>
                  <a:srgbClr val="3D8DFF"/>
                </a:solidFill>
                <a:latin typeface="Arial"/>
                <a:ea typeface="Arial"/>
                <a:cs typeface="Arial"/>
              </a:defRPr>
            </a:pPr>
            <a:r>
              <a:rPr sz="3450" b="1">
                <a:solidFill>
                  <a:srgbClr val="3D8DFF"/>
                </a:solidFill>
                <a:latin typeface="Arial"/>
                <a:ea typeface="Arial"/>
                <a:cs typeface="Arial"/>
              </a:rPr>
              <a:t>2 / 2</a:t>
            </a:r>
          </a:p>
        </p:txBody>
      </p:sp>
      <p:sp>
        <p:nvSpPr>
          <p:cNvPr id="8" name="">
            <a:extLst xmlns:a="http://schemas.openxmlformats.org/drawingml/2006/main">
              <a:ext uri="{FF2B5EF4-FFF2-40B4-BE49-F238E27FC236}">
                <a16:creationId xmlns:a16="http://schemas.microsoft.com/office/drawing/2014/main" id="{B4365F2C-8171-4EA9-BAB3-96A97D607F6C}"/>
              </a:ext>
            </a:extLst>
          </p:cNvPr>
          <p:cNvSpPr>
            <a:spLocks xmlns:a="http://schemas.openxmlformats.org/drawingml/2006/main" noGrp="1"/>
          </p:cNvSpPr>
          <p:nvPr/>
        </p:nvSpPr>
        <p:spPr>
          <a:xfrm xmlns:a="http://schemas.openxmlformats.org/drawingml/2006/main">
            <a:off x="3333750" y="247650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36171"/>
                </a:solidFill>
                <a:latin typeface="Arial"/>
                <a:ea typeface="Arial"/>
                <a:cs typeface="Arial"/>
              </a:defRPr>
            </a:pPr>
            <a:r>
              <a:rPr sz="1275" b="0">
                <a:solidFill>
                  <a:srgbClr val="536171"/>
                </a:solidFill>
                <a:latin typeface="Arial"/>
                <a:ea typeface="Arial"/>
                <a:cs typeface="Arial"/>
              </a:rPr>
              <a:t>containers healthy</a:t>
            </a:r>
          </a:p>
        </p:txBody>
      </p:sp>
      <p:sp>
        <p:nvSpPr>
          <p:cNvPr id="9" name="">
            <a:extLst xmlns:a="http://schemas.openxmlformats.org/drawingml/2006/main">
              <a:ext uri="{FF2B5EF4-FFF2-40B4-BE49-F238E27FC236}">
                <a16:creationId xmlns:a16="http://schemas.microsoft.com/office/drawing/2014/main" id="{EA463E0F-1484-436D-A4D6-CBC033E3CFB3}"/>
              </a:ext>
            </a:extLst>
          </p:cNvPr>
          <p:cNvSpPr>
            <a:spLocks xmlns:a="http://schemas.openxmlformats.org/drawingml/2006/main" noGrp="1"/>
          </p:cNvSpPr>
          <p:nvPr/>
        </p:nvSpPr>
        <p:spPr>
          <a:xfrm xmlns:a="http://schemas.openxmlformats.org/drawingml/2006/main">
            <a:off x="6134100" y="177165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450" b="1">
                <a:solidFill>
                  <a:srgbClr val="00D6A3"/>
                </a:solidFill>
                <a:latin typeface="Arial"/>
                <a:ea typeface="Arial"/>
                <a:cs typeface="Arial"/>
              </a:defRPr>
            </a:pPr>
            <a:r>
              <a:rPr sz="3450" b="1">
                <a:solidFill>
                  <a:srgbClr val="00D6A3"/>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56D00182-B70D-4225-88BC-96229BD06FC9}"/>
              </a:ext>
            </a:extLst>
          </p:cNvPr>
          <p:cNvSpPr>
            <a:spLocks xmlns:a="http://schemas.openxmlformats.org/drawingml/2006/main" noGrp="1"/>
          </p:cNvSpPr>
          <p:nvPr/>
        </p:nvSpPr>
        <p:spPr>
          <a:xfrm xmlns:a="http://schemas.openxmlformats.org/drawingml/2006/main">
            <a:off x="6134100" y="247650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36171"/>
                </a:solidFill>
                <a:latin typeface="Arial"/>
                <a:ea typeface="Arial"/>
                <a:cs typeface="Arial"/>
              </a:defRPr>
            </a:pPr>
            <a:r>
              <a:rPr sz="1275" b="0">
                <a:solidFill>
                  <a:srgbClr val="536171"/>
                </a:solidFill>
                <a:latin typeface="Arial"/>
                <a:ea typeface="Arial"/>
                <a:cs typeface="Arial"/>
              </a:rPr>
              <a:t>error lines in final log scan</a:t>
            </a:r>
          </a:p>
        </p:txBody>
      </p:sp>
      <p:sp>
        <p:nvSpPr>
          <p:cNvPr id="11" name="">
            <a:extLst xmlns:a="http://schemas.openxmlformats.org/drawingml/2006/main">
              <a:ext uri="{FF2B5EF4-FFF2-40B4-BE49-F238E27FC236}">
                <a16:creationId xmlns:a16="http://schemas.microsoft.com/office/drawing/2014/main" id="{DA9019F3-9EB0-46D8-88CF-2A964B00FE21}"/>
              </a:ext>
            </a:extLst>
          </p:cNvPr>
          <p:cNvSpPr>
            <a:spLocks xmlns:a="http://schemas.openxmlformats.org/drawingml/2006/main" noGrp="1"/>
          </p:cNvSpPr>
          <p:nvPr/>
        </p:nvSpPr>
        <p:spPr>
          <a:xfrm xmlns:a="http://schemas.openxmlformats.org/drawingml/2006/main">
            <a:off x="8934450" y="177165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450" b="1">
                <a:solidFill>
                  <a:srgbClr val="3D8DFF"/>
                </a:solidFill>
                <a:latin typeface="Arial"/>
                <a:ea typeface="Arial"/>
                <a:cs typeface="Arial"/>
              </a:defRPr>
            </a:pPr>
            <a:r>
              <a:rPr sz="3450" b="1">
                <a:solidFill>
                  <a:srgbClr val="3D8DFF"/>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79509CC5-8935-48C6-BAF6-D51834DA2DF2}"/>
              </a:ext>
            </a:extLst>
          </p:cNvPr>
          <p:cNvSpPr>
            <a:spLocks xmlns:a="http://schemas.openxmlformats.org/drawingml/2006/main" noGrp="1"/>
          </p:cNvSpPr>
          <p:nvPr/>
        </p:nvSpPr>
        <p:spPr>
          <a:xfrm xmlns:a="http://schemas.openxmlformats.org/drawingml/2006/main">
            <a:off x="8934450" y="2476500"/>
            <a:ext cx="2533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36171"/>
                </a:solidFill>
                <a:latin typeface="Arial"/>
                <a:ea typeface="Arial"/>
                <a:cs typeface="Arial"/>
              </a:defRPr>
            </a:pPr>
            <a:r>
              <a:rPr sz="1275" b="0">
                <a:solidFill>
                  <a:srgbClr val="536171"/>
                </a:solidFill>
                <a:latin typeface="Arial"/>
                <a:ea typeface="Arial"/>
                <a:cs typeface="Arial"/>
              </a:rPr>
              <a:t>real flows captured</a:t>
            </a:r>
          </a:p>
        </p:txBody>
      </p:sp>
      <p:cxnSp>
        <p:nvCxnSpPr>
          <p:cNvPr id="47" name=""/>
          <p:cNvCxnSpPr/>
          <p:nvPr/>
        </p:nvCxnSpPr>
        <p:spPr>
          <a:xfrm xmlns:a="http://schemas.openxmlformats.org/drawingml/2006/main">
            <a:off x="533400" y="3219450"/>
            <a:ext cx="11125200" cy="0"/>
          </a:xfrm>
          <a:prstGeom xmlns:a="http://schemas.openxmlformats.org/drawingml/2006/main" prst="straightConnector1">
            <a:avLst/>
          </a:prstGeom>
          <a:ln xmlns:a="http://schemas.openxmlformats.org/drawingml/2006/main" w="9525">
            <a:solidFill>
              <a:srgbClr val="C8D0D9"/>
            </a:solidFill>
            <a:prstDash val="solid"/>
          </a:ln>
        </p:spPr>
      </p:cxnSp>
      <p:sp>
        <p:nvSpPr>
          <p:cNvPr id="14" name="">
            <a:extLst xmlns:a="http://schemas.openxmlformats.org/drawingml/2006/main">
              <a:ext uri="{FF2B5EF4-FFF2-40B4-BE49-F238E27FC236}">
                <a16:creationId xmlns:a16="http://schemas.microsoft.com/office/drawing/2014/main" id="{3DD39DC4-391F-48E1-BD9C-F1C521BE5A28}"/>
              </a:ext>
            </a:extLst>
          </p:cNvPr>
          <p:cNvSpPr>
            <a:spLocks xmlns:a="http://schemas.openxmlformats.org/drawingml/2006/main" noGrp="1"/>
          </p:cNvSpPr>
          <p:nvPr/>
        </p:nvSpPr>
        <p:spPr>
          <a:xfrm xmlns:a="http://schemas.openxmlformats.org/drawingml/2006/main">
            <a:off x="533400" y="3486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36171"/>
                </a:solidFill>
                <a:latin typeface="Arial"/>
                <a:ea typeface="Arial"/>
                <a:cs typeface="Arial"/>
              </a:defRPr>
            </a:pPr>
            <a:r>
              <a:rPr sz="1050" b="1">
                <a:solidFill>
                  <a:srgbClr val="536171"/>
                </a:solidFill>
                <a:latin typeface="Arial"/>
                <a:ea typeface="Arial"/>
                <a:cs typeface="Arial"/>
              </a:rPr>
              <a:t>FLOW</a:t>
            </a:r>
          </a:p>
        </p:txBody>
      </p:sp>
      <p:sp>
        <p:nvSpPr>
          <p:cNvPr id="15" name="">
            <a:extLst xmlns:a="http://schemas.openxmlformats.org/drawingml/2006/main">
              <a:ext uri="{FF2B5EF4-FFF2-40B4-BE49-F238E27FC236}">
                <a16:creationId xmlns:a16="http://schemas.microsoft.com/office/drawing/2014/main" id="{D9D6BC30-E6C8-46C8-9BD9-CD1BACBA7DB8}"/>
              </a:ext>
            </a:extLst>
          </p:cNvPr>
          <p:cNvSpPr>
            <a:spLocks xmlns:a="http://schemas.openxmlformats.org/drawingml/2006/main" noGrp="1"/>
          </p:cNvSpPr>
          <p:nvPr/>
        </p:nvSpPr>
        <p:spPr>
          <a:xfrm xmlns:a="http://schemas.openxmlformats.org/drawingml/2006/main">
            <a:off x="3771900" y="3486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36171"/>
                </a:solidFill>
                <a:latin typeface="Arial"/>
                <a:ea typeface="Arial"/>
                <a:cs typeface="Arial"/>
              </a:defRPr>
            </a:pPr>
            <a:r>
              <a:rPr sz="1050" b="1">
                <a:solidFill>
                  <a:srgbClr val="536171"/>
                </a:solidFill>
                <a:latin typeface="Arial"/>
                <a:ea typeface="Arial"/>
                <a:cs typeface="Arial"/>
              </a:rPr>
              <a:t>EVIDENCE</a:t>
            </a:r>
          </a:p>
        </p:txBody>
      </p:sp>
      <p:sp>
        <p:nvSpPr>
          <p:cNvPr id="16" name="">
            <a:extLst xmlns:a="http://schemas.openxmlformats.org/drawingml/2006/main">
              <a:ext uri="{FF2B5EF4-FFF2-40B4-BE49-F238E27FC236}">
                <a16:creationId xmlns:a16="http://schemas.microsoft.com/office/drawing/2014/main" id="{0C407CBF-1815-4031-B5D0-88FEFF98FA99}"/>
              </a:ext>
            </a:extLst>
          </p:cNvPr>
          <p:cNvSpPr>
            <a:spLocks xmlns:a="http://schemas.openxmlformats.org/drawingml/2006/main" noGrp="1"/>
          </p:cNvSpPr>
          <p:nvPr/>
        </p:nvSpPr>
        <p:spPr>
          <a:xfrm xmlns:a="http://schemas.openxmlformats.org/drawingml/2006/main">
            <a:off x="8858250" y="34861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536171"/>
                </a:solidFill>
                <a:latin typeface="Arial"/>
                <a:ea typeface="Arial"/>
                <a:cs typeface="Arial"/>
              </a:defRPr>
            </a:pPr>
            <a:r>
              <a:rPr sz="1050" b="1">
                <a:solidFill>
                  <a:srgbClr val="536171"/>
                </a:solidFill>
                <a:latin typeface="Arial"/>
                <a:ea typeface="Arial"/>
                <a:cs typeface="Arial"/>
              </a:rPr>
              <a:t>OBSERVED TOTAL</a:t>
            </a:r>
          </a:p>
        </p:txBody>
      </p:sp>
      <p:sp>
        <p:nvSpPr>
          <p:cNvPr id="17" name="">
            <a:extLst xmlns:a="http://schemas.openxmlformats.org/drawingml/2006/main">
              <a:ext uri="{FF2B5EF4-FFF2-40B4-BE49-F238E27FC236}">
                <a16:creationId xmlns:a16="http://schemas.microsoft.com/office/drawing/2014/main" id="{FBE30817-154D-4939-8A06-A0BA809960B3}"/>
              </a:ext>
            </a:extLst>
          </p:cNvPr>
          <p:cNvSpPr>
            <a:spLocks xmlns:a="http://schemas.openxmlformats.org/drawingml/2006/main" noGrp="1"/>
          </p:cNvSpPr>
          <p:nvPr/>
        </p:nvSpPr>
        <p:spPr>
          <a:xfrm xmlns:a="http://schemas.openxmlformats.org/drawingml/2006/main">
            <a:off x="457200" y="3810000"/>
            <a:ext cx="11277600" cy="419100"/>
          </a:xfrm>
          <a:prstGeom xmlns:a="http://schemas.openxmlformats.org/drawingml/2006/main" prst="rect">
            <a:avLst/>
          </a:prstGeom>
          <a:solidFill xmlns:a="http://schemas.openxmlformats.org/drawingml/2006/main">
            <a:srgbClr val="F1F4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6FDB16-E873-400C-A738-17AE9F0A6E69}"/>
              </a:ext>
            </a:extLst>
          </p:cNvPr>
          <p:cNvSpPr>
            <a:spLocks xmlns:a="http://schemas.openxmlformats.org/drawingml/2006/main" noGrp="1"/>
          </p:cNvSpPr>
          <p:nvPr/>
        </p:nvSpPr>
        <p:spPr>
          <a:xfrm xmlns:a="http://schemas.openxmlformats.org/drawingml/2006/main">
            <a:off x="533400" y="3848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Policies</a:t>
            </a:r>
          </a:p>
        </p:txBody>
      </p:sp>
      <p:sp>
        <p:nvSpPr>
          <p:cNvPr id="19" name="">
            <a:extLst xmlns:a="http://schemas.openxmlformats.org/drawingml/2006/main">
              <a:ext uri="{FF2B5EF4-FFF2-40B4-BE49-F238E27FC236}">
                <a16:creationId xmlns:a16="http://schemas.microsoft.com/office/drawing/2014/main" id="{1580503C-1E05-4E92-905F-6BB727A19E5F}"/>
              </a:ext>
            </a:extLst>
          </p:cNvPr>
          <p:cNvSpPr>
            <a:spLocks xmlns:a="http://schemas.openxmlformats.org/drawingml/2006/main" noGrp="1"/>
          </p:cNvSpPr>
          <p:nvPr/>
        </p:nvSpPr>
        <p:spPr>
          <a:xfrm xmlns:a="http://schemas.openxmlformats.org/drawingml/2006/main">
            <a:off x="3771900" y="38481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B162C"/>
                </a:solidFill>
                <a:latin typeface="Arial"/>
                <a:ea typeface="Arial"/>
                <a:cs typeface="Arial"/>
              </a:defRPr>
            </a:pPr>
            <a:r>
              <a:rPr sz="1350" b="0">
                <a:solidFill>
                  <a:srgbClr val="0B162C"/>
                </a:solidFill>
                <a:latin typeface="Arial"/>
                <a:ea typeface="Arial"/>
                <a:cs typeface="Arial"/>
              </a:rPr>
              <a:t>5 PDF sources</a:t>
            </a:r>
          </a:p>
        </p:txBody>
      </p:sp>
      <p:sp>
        <p:nvSpPr>
          <p:cNvPr id="20" name="">
            <a:extLst xmlns:a="http://schemas.openxmlformats.org/drawingml/2006/main">
              <a:ext uri="{FF2B5EF4-FFF2-40B4-BE49-F238E27FC236}">
                <a16:creationId xmlns:a16="http://schemas.microsoft.com/office/drawing/2014/main" id="{4AAE0A77-C903-47AA-A0C8-89B04E7D44B7}"/>
              </a:ext>
            </a:extLst>
          </p:cNvPr>
          <p:cNvSpPr>
            <a:spLocks xmlns:a="http://schemas.openxmlformats.org/drawingml/2006/main" noGrp="1"/>
          </p:cNvSpPr>
          <p:nvPr/>
        </p:nvSpPr>
        <p:spPr>
          <a:xfrm xmlns:a="http://schemas.openxmlformats.org/drawingml/2006/main">
            <a:off x="8858250" y="38481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0B162C"/>
                </a:solidFill>
                <a:latin typeface="Arial"/>
                <a:ea typeface="Arial"/>
                <a:cs typeface="Arial"/>
              </a:defRPr>
            </a:pPr>
            <a:r>
              <a:rPr sz="1350" b="0">
                <a:solidFill>
                  <a:srgbClr val="0B162C"/>
                </a:solidFill>
                <a:latin typeface="Arial"/>
                <a:ea typeface="Arial"/>
                <a:cs typeface="Arial"/>
              </a:rPr>
              <a:t>10.82 s</a:t>
            </a:r>
          </a:p>
        </p:txBody>
      </p:sp>
      <p:sp>
        <p:nvSpPr>
          <p:cNvPr id="21" name="">
            <a:extLst xmlns:a="http://schemas.openxmlformats.org/drawingml/2006/main">
              <a:ext uri="{FF2B5EF4-FFF2-40B4-BE49-F238E27FC236}">
                <a16:creationId xmlns:a16="http://schemas.microsoft.com/office/drawing/2014/main" id="{5315DF13-018D-4DB4-BED3-1EC963370BE8}"/>
              </a:ext>
            </a:extLst>
          </p:cNvPr>
          <p:cNvSpPr>
            <a:spLocks xmlns:a="http://schemas.openxmlformats.org/drawingml/2006/main" noGrp="1"/>
          </p:cNvSpPr>
          <p:nvPr/>
        </p:nvSpPr>
        <p:spPr>
          <a:xfrm xmlns:a="http://schemas.openxmlformats.org/drawingml/2006/main">
            <a:off x="533400" y="4305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Web (Chile)</a:t>
            </a:r>
          </a:p>
        </p:txBody>
      </p:sp>
      <p:sp>
        <p:nvSpPr>
          <p:cNvPr id="22" name="">
            <a:extLst xmlns:a="http://schemas.openxmlformats.org/drawingml/2006/main">
              <a:ext uri="{FF2B5EF4-FFF2-40B4-BE49-F238E27FC236}">
                <a16:creationId xmlns:a16="http://schemas.microsoft.com/office/drawing/2014/main" id="{3E439B92-76E7-41D8-9CD2-232ED8913BDC}"/>
              </a:ext>
            </a:extLst>
          </p:cNvPr>
          <p:cNvSpPr>
            <a:spLocks xmlns:a="http://schemas.openxmlformats.org/drawingml/2006/main" noGrp="1"/>
          </p:cNvSpPr>
          <p:nvPr/>
        </p:nvSpPr>
        <p:spPr>
          <a:xfrm xmlns:a="http://schemas.openxmlformats.org/drawingml/2006/main">
            <a:off x="3771900" y="43053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B162C"/>
                </a:solidFill>
                <a:latin typeface="Arial"/>
                <a:ea typeface="Arial"/>
                <a:cs typeface="Arial"/>
              </a:defRPr>
            </a:pPr>
            <a:r>
              <a:rPr sz="1350" b="0">
                <a:solidFill>
                  <a:srgbClr val="0B162C"/>
                </a:solidFill>
                <a:latin typeface="Arial"/>
                <a:ea typeface="Arial"/>
                <a:cs typeface="Arial"/>
              </a:rPr>
              <a:t>12 web sources</a:t>
            </a:r>
          </a:p>
        </p:txBody>
      </p:sp>
      <p:sp>
        <p:nvSpPr>
          <p:cNvPr id="23" name="">
            <a:extLst xmlns:a="http://schemas.openxmlformats.org/drawingml/2006/main">
              <a:ext uri="{FF2B5EF4-FFF2-40B4-BE49-F238E27FC236}">
                <a16:creationId xmlns:a16="http://schemas.microsoft.com/office/drawing/2014/main" id="{D5174071-D8E3-455E-BE5F-9E815A5431A4}"/>
              </a:ext>
            </a:extLst>
          </p:cNvPr>
          <p:cNvSpPr>
            <a:spLocks xmlns:a="http://schemas.openxmlformats.org/drawingml/2006/main" noGrp="1"/>
          </p:cNvSpPr>
          <p:nvPr/>
        </p:nvSpPr>
        <p:spPr>
          <a:xfrm xmlns:a="http://schemas.openxmlformats.org/drawingml/2006/main">
            <a:off x="8858250" y="43053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0B162C"/>
                </a:solidFill>
                <a:latin typeface="Arial"/>
                <a:ea typeface="Arial"/>
                <a:cs typeface="Arial"/>
              </a:defRPr>
            </a:pPr>
            <a:r>
              <a:rPr sz="1350" b="0">
                <a:solidFill>
                  <a:srgbClr val="0B162C"/>
                </a:solidFill>
                <a:latin typeface="Arial"/>
                <a:ea typeface="Arial"/>
                <a:cs typeface="Arial"/>
              </a:rPr>
              <a:t>12.77 s</a:t>
            </a:r>
          </a:p>
        </p:txBody>
      </p:sp>
      <p:sp>
        <p:nvSpPr>
          <p:cNvPr id="24" name="">
            <a:extLst xmlns:a="http://schemas.openxmlformats.org/drawingml/2006/main">
              <a:ext uri="{FF2B5EF4-FFF2-40B4-BE49-F238E27FC236}">
                <a16:creationId xmlns:a16="http://schemas.microsoft.com/office/drawing/2014/main" id="{D6C0C495-E71D-4B1B-B288-53C705B56CDD}"/>
              </a:ext>
            </a:extLst>
          </p:cNvPr>
          <p:cNvSpPr>
            <a:spLocks xmlns:a="http://schemas.openxmlformats.org/drawingml/2006/main" noGrp="1"/>
          </p:cNvSpPr>
          <p:nvPr/>
        </p:nvSpPr>
        <p:spPr>
          <a:xfrm xmlns:a="http://schemas.openxmlformats.org/drawingml/2006/main">
            <a:off x="457200" y="4724400"/>
            <a:ext cx="11277600" cy="419100"/>
          </a:xfrm>
          <a:prstGeom xmlns:a="http://schemas.openxmlformats.org/drawingml/2006/main" prst="rect">
            <a:avLst/>
          </a:prstGeom>
          <a:solidFill xmlns:a="http://schemas.openxmlformats.org/drawingml/2006/main">
            <a:srgbClr val="F1F4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BCC021-684C-4587-B060-8B4C6458E1E8}"/>
              </a:ext>
            </a:extLst>
          </p:cNvPr>
          <p:cNvSpPr>
            <a:spLocks xmlns:a="http://schemas.openxmlformats.org/drawingml/2006/main" noGrp="1"/>
          </p:cNvSpPr>
          <p:nvPr/>
        </p:nvSpPr>
        <p:spPr>
          <a:xfrm xmlns:a="http://schemas.openxmlformats.org/drawingml/2006/main">
            <a:off x="533400" y="4762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Combined</a:t>
            </a:r>
          </a:p>
        </p:txBody>
      </p:sp>
      <p:sp>
        <p:nvSpPr>
          <p:cNvPr id="26" name="">
            <a:extLst xmlns:a="http://schemas.openxmlformats.org/drawingml/2006/main">
              <a:ext uri="{FF2B5EF4-FFF2-40B4-BE49-F238E27FC236}">
                <a16:creationId xmlns:a16="http://schemas.microsoft.com/office/drawing/2014/main" id="{C341EE98-1108-4B20-98C8-1CDDD4E10A68}"/>
              </a:ext>
            </a:extLst>
          </p:cNvPr>
          <p:cNvSpPr>
            <a:spLocks xmlns:a="http://schemas.openxmlformats.org/drawingml/2006/main" noGrp="1"/>
          </p:cNvSpPr>
          <p:nvPr/>
        </p:nvSpPr>
        <p:spPr>
          <a:xfrm xmlns:a="http://schemas.openxmlformats.org/drawingml/2006/main">
            <a:off x="3771900" y="47625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B162C"/>
                </a:solidFill>
                <a:latin typeface="Arial"/>
                <a:ea typeface="Arial"/>
                <a:cs typeface="Arial"/>
              </a:defRPr>
            </a:pPr>
            <a:r>
              <a:rPr sz="1350" b="0">
                <a:solidFill>
                  <a:srgbClr val="0B162C"/>
                </a:solidFill>
                <a:latin typeface="Arial"/>
                <a:ea typeface="Arial"/>
                <a:cs typeface="Arial"/>
              </a:rPr>
              <a:t>17 total sources</a:t>
            </a:r>
          </a:p>
        </p:txBody>
      </p:sp>
      <p:sp>
        <p:nvSpPr>
          <p:cNvPr id="27" name="">
            <a:extLst xmlns:a="http://schemas.openxmlformats.org/drawingml/2006/main">
              <a:ext uri="{FF2B5EF4-FFF2-40B4-BE49-F238E27FC236}">
                <a16:creationId xmlns:a16="http://schemas.microsoft.com/office/drawing/2014/main" id="{916ADA89-934B-403D-8690-848689347E21}"/>
              </a:ext>
            </a:extLst>
          </p:cNvPr>
          <p:cNvSpPr>
            <a:spLocks xmlns:a="http://schemas.openxmlformats.org/drawingml/2006/main" noGrp="1"/>
          </p:cNvSpPr>
          <p:nvPr/>
        </p:nvSpPr>
        <p:spPr>
          <a:xfrm xmlns:a="http://schemas.openxmlformats.org/drawingml/2006/main">
            <a:off x="8858250" y="47625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0B162C"/>
                </a:solidFill>
                <a:latin typeface="Arial"/>
                <a:ea typeface="Arial"/>
                <a:cs typeface="Arial"/>
              </a:defRPr>
            </a:pPr>
            <a:r>
              <a:rPr sz="1350" b="0">
                <a:solidFill>
                  <a:srgbClr val="0B162C"/>
                </a:solidFill>
                <a:latin typeface="Arial"/>
                <a:ea typeface="Arial"/>
                <a:cs typeface="Arial"/>
              </a:rPr>
              <a:t>15.89 s</a:t>
            </a:r>
          </a:p>
        </p:txBody>
      </p:sp>
      <p:sp>
        <p:nvSpPr>
          <p:cNvPr id="28" name="">
            <a:extLst xmlns:a="http://schemas.openxmlformats.org/drawingml/2006/main">
              <a:ext uri="{FF2B5EF4-FFF2-40B4-BE49-F238E27FC236}">
                <a16:creationId xmlns:a16="http://schemas.microsoft.com/office/drawing/2014/main" id="{1C2D0972-D557-4198-BA5C-E125A6156E4C}"/>
              </a:ext>
            </a:extLst>
          </p:cNvPr>
          <p:cNvSpPr>
            <a:spLocks xmlns:a="http://schemas.openxmlformats.org/drawingml/2006/main" noGrp="1"/>
          </p:cNvSpPr>
          <p:nvPr/>
        </p:nvSpPr>
        <p:spPr>
          <a:xfrm xmlns:a="http://schemas.openxmlformats.org/drawingml/2006/main">
            <a:off x="533400" y="52197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Draft</a:t>
            </a:r>
          </a:p>
        </p:txBody>
      </p:sp>
      <p:sp>
        <p:nvSpPr>
          <p:cNvPr id="29" name="">
            <a:extLst xmlns:a="http://schemas.openxmlformats.org/drawingml/2006/main">
              <a:ext uri="{FF2B5EF4-FFF2-40B4-BE49-F238E27FC236}">
                <a16:creationId xmlns:a16="http://schemas.microsoft.com/office/drawing/2014/main" id="{348BE854-DC8F-42F0-B75E-497B0B5045A3}"/>
              </a:ext>
            </a:extLst>
          </p:cNvPr>
          <p:cNvSpPr>
            <a:spLocks xmlns:a="http://schemas.openxmlformats.org/drawingml/2006/main" noGrp="1"/>
          </p:cNvSpPr>
          <p:nvPr/>
        </p:nvSpPr>
        <p:spPr>
          <a:xfrm xmlns:a="http://schemas.openxmlformats.org/drawingml/2006/main">
            <a:off x="37719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B162C"/>
                </a:solidFill>
                <a:latin typeface="Arial"/>
                <a:ea typeface="Arial"/>
                <a:cs typeface="Arial"/>
              </a:defRPr>
            </a:pPr>
            <a:r>
              <a:rPr sz="1350" b="0">
                <a:solidFill>
                  <a:srgbClr val="0B162C"/>
                </a:solidFill>
                <a:latin typeface="Arial"/>
                <a:ea typeface="Arial"/>
                <a:cs typeface="Arial"/>
              </a:rPr>
              <a:t>6 source chunks</a:t>
            </a:r>
          </a:p>
        </p:txBody>
      </p:sp>
      <p:sp>
        <p:nvSpPr>
          <p:cNvPr id="30" name="">
            <a:extLst xmlns:a="http://schemas.openxmlformats.org/drawingml/2006/main">
              <a:ext uri="{FF2B5EF4-FFF2-40B4-BE49-F238E27FC236}">
                <a16:creationId xmlns:a16="http://schemas.microsoft.com/office/drawing/2014/main" id="{6F9113F4-EEC1-44F2-8F3B-9593F03BB071}"/>
              </a:ext>
            </a:extLst>
          </p:cNvPr>
          <p:cNvSpPr>
            <a:spLocks xmlns:a="http://schemas.openxmlformats.org/drawingml/2006/main" noGrp="1"/>
          </p:cNvSpPr>
          <p:nvPr/>
        </p:nvSpPr>
        <p:spPr>
          <a:xfrm xmlns:a="http://schemas.openxmlformats.org/drawingml/2006/main">
            <a:off x="8858250" y="52197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0B162C"/>
                </a:solidFill>
                <a:latin typeface="Arial"/>
                <a:ea typeface="Arial"/>
                <a:cs typeface="Arial"/>
              </a:defRPr>
            </a:pPr>
            <a:r>
              <a:rPr sz="1350" b="0">
                <a:solidFill>
                  <a:srgbClr val="0B162C"/>
                </a:solidFill>
                <a:latin typeface="Arial"/>
                <a:ea typeface="Arial"/>
                <a:cs typeface="Arial"/>
              </a:rPr>
              <a:t>13.33 s</a:t>
            </a:r>
          </a:p>
        </p:txBody>
      </p:sp>
      <p:sp>
        <p:nvSpPr>
          <p:cNvPr id="31" name="">
            <a:extLst xmlns:a="http://schemas.openxmlformats.org/drawingml/2006/main">
              <a:ext uri="{FF2B5EF4-FFF2-40B4-BE49-F238E27FC236}">
                <a16:creationId xmlns:a16="http://schemas.microsoft.com/office/drawing/2014/main" id="{17206C8F-06A6-4FA8-939C-CEE269FAC8BE}"/>
              </a:ext>
            </a:extLst>
          </p:cNvPr>
          <p:cNvSpPr>
            <a:spLocks xmlns:a="http://schemas.openxmlformats.org/drawingml/2006/main" noGrp="1"/>
          </p:cNvSpPr>
          <p:nvPr/>
        </p:nvSpPr>
        <p:spPr>
          <a:xfrm xmlns:a="http://schemas.openxmlformats.org/drawingml/2006/main">
            <a:off x="457200" y="5638800"/>
            <a:ext cx="11277600" cy="419100"/>
          </a:xfrm>
          <a:prstGeom xmlns:a="http://schemas.openxmlformats.org/drawingml/2006/main" prst="rect">
            <a:avLst/>
          </a:prstGeom>
          <a:solidFill xmlns:a="http://schemas.openxmlformats.org/drawingml/2006/main">
            <a:srgbClr val="F1F4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7D7D588-265C-46D5-BE5D-A7C11162CFC5}"/>
              </a:ext>
            </a:extLst>
          </p:cNvPr>
          <p:cNvSpPr>
            <a:spLocks xmlns:a="http://schemas.openxmlformats.org/drawingml/2006/main" noGrp="1"/>
          </p:cNvSpPr>
          <p:nvPr/>
        </p:nvSpPr>
        <p:spPr>
          <a:xfrm xmlns:a="http://schemas.openxmlformats.org/drawingml/2006/main">
            <a:off x="533400" y="567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B162C"/>
                </a:solidFill>
                <a:latin typeface="Arial"/>
                <a:ea typeface="Arial"/>
                <a:cs typeface="Arial"/>
              </a:defRPr>
            </a:pPr>
            <a:r>
              <a:rPr sz="1350" b="1">
                <a:solidFill>
                  <a:srgbClr val="0B162C"/>
                </a:solidFill>
                <a:latin typeface="Arial"/>
                <a:ea typeface="Arial"/>
                <a:cs typeface="Arial"/>
              </a:rPr>
              <a:t>SSE</a:t>
            </a:r>
          </a:p>
        </p:txBody>
      </p:sp>
      <p:sp>
        <p:nvSpPr>
          <p:cNvPr id="33" name="">
            <a:extLst xmlns:a="http://schemas.openxmlformats.org/drawingml/2006/main">
              <a:ext uri="{FF2B5EF4-FFF2-40B4-BE49-F238E27FC236}">
                <a16:creationId xmlns:a16="http://schemas.microsoft.com/office/drawing/2014/main" id="{BEA4C974-E7E6-4BE5-9D7D-129DF9AF2DDB}"/>
              </a:ext>
            </a:extLst>
          </p:cNvPr>
          <p:cNvSpPr>
            <a:spLocks xmlns:a="http://schemas.openxmlformats.org/drawingml/2006/main" noGrp="1"/>
          </p:cNvSpPr>
          <p:nvPr/>
        </p:nvSpPr>
        <p:spPr>
          <a:xfrm xmlns:a="http://schemas.openxmlformats.org/drawingml/2006/main">
            <a:off x="3771900" y="56769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0B162C"/>
                </a:solidFill>
                <a:latin typeface="Arial"/>
                <a:ea typeface="Arial"/>
                <a:cs typeface="Arial"/>
              </a:defRPr>
            </a:pPr>
            <a:r>
              <a:rPr sz="1350" b="0">
                <a:solidFill>
                  <a:srgbClr val="0B162C"/>
                </a:solidFill>
                <a:latin typeface="Arial"/>
                <a:ea typeface="Arial"/>
                <a:cs typeface="Arial"/>
              </a:rPr>
              <a:t>129 progress/token events</a:t>
            </a:r>
          </a:p>
        </p:txBody>
      </p:sp>
      <p:sp>
        <p:nvSpPr>
          <p:cNvPr id="34" name="">
            <a:extLst xmlns:a="http://schemas.openxmlformats.org/drawingml/2006/main">
              <a:ext uri="{FF2B5EF4-FFF2-40B4-BE49-F238E27FC236}">
                <a16:creationId xmlns:a16="http://schemas.microsoft.com/office/drawing/2014/main" id="{7DAA0820-4FFD-4ADB-92CD-CA2E603076AD}"/>
              </a:ext>
            </a:extLst>
          </p:cNvPr>
          <p:cNvSpPr>
            <a:spLocks xmlns:a="http://schemas.openxmlformats.org/drawingml/2006/main" noGrp="1"/>
          </p:cNvSpPr>
          <p:nvPr/>
        </p:nvSpPr>
        <p:spPr>
          <a:xfrm xmlns:a="http://schemas.openxmlformats.org/drawingml/2006/main">
            <a:off x="8858250" y="56769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0B162C"/>
                </a:solidFill>
                <a:latin typeface="Arial"/>
                <a:ea typeface="Arial"/>
                <a:cs typeface="Arial"/>
              </a:defRPr>
            </a:pPr>
            <a:r>
              <a:rPr sz="1350" b="0">
                <a:solidFill>
                  <a:srgbClr val="0B162C"/>
                </a:solidFill>
                <a:latin typeface="Arial"/>
                <a:ea typeface="Arial"/>
                <a:cs typeface="Arial"/>
              </a:rPr>
              <a:t>completed</a:t>
            </a:r>
          </a:p>
        </p:txBody>
      </p:sp>
    </p:spTree>
    <p:extLst>
      <p:ext uri="{BB962C8B-B14F-4D97-AF65-F5344CB8AC3E}">
        <p14:creationId xmlns:p14="http://schemas.microsoft.com/office/powerpoint/2010/main" val="544365118"/>
      </p:ext>
    </p:extLst>
  </p:cSld>
</p:sld>
</file>

<file path=ppt/slides/slide8.xml><?xml version="1.0" encoding="utf-8"?>
<p:sld xmlns:p="http://schemas.openxmlformats.org/presentationml/2006/main">
  <p:cSld>
    <p:bg>
      <p:bgPr>
        <a:solidFill xmlns:a="http://schemas.openxmlformats.org/drawingml/2006/main">
          <a:srgbClr val="0B162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026052-1BDF-4E46-9F19-83850B451590}"/>
              </a:ext>
            </a:extLst>
          </p:cNvPr>
          <p:cNvSpPr>
            <a:spLocks xmlns:a="http://schemas.openxmlformats.org/drawingml/2006/main" noGrp="1"/>
          </p:cNvSpPr>
          <p:nvPr/>
        </p:nvSpPr>
        <p:spPr>
          <a:xfrm xmlns:a="http://schemas.openxmlformats.org/drawingml/2006/main">
            <a:off x="533400" y="438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0D6A3"/>
                </a:solidFill>
                <a:latin typeface="Arial"/>
                <a:ea typeface="Arial"/>
                <a:cs typeface="Arial"/>
              </a:defRPr>
            </a:pPr>
            <a:r>
              <a:rPr sz="1050" b="1">
                <a:solidFill>
                  <a:srgbClr val="00D6A3"/>
                </a:solidFill>
                <a:latin typeface="Arial"/>
                <a:ea typeface="Arial"/>
                <a:cs typeface="Arial"/>
              </a:rPr>
              <a:t>RELEASE CANDIDATE</a:t>
            </a:r>
          </a:p>
        </p:txBody>
      </p:sp>
      <p:sp>
        <p:nvSpPr>
          <p:cNvPr id="2" name="">
            <a:extLst xmlns:a="http://schemas.openxmlformats.org/drawingml/2006/main">
              <a:ext uri="{FF2B5EF4-FFF2-40B4-BE49-F238E27FC236}">
                <a16:creationId xmlns:a16="http://schemas.microsoft.com/office/drawing/2014/main" id="{BCD51AFB-DA4B-40D7-AD86-CB85AAB3BA23}"/>
              </a:ext>
            </a:extLst>
          </p:cNvPr>
          <p:cNvSpPr>
            <a:spLocks xmlns:a="http://schemas.openxmlformats.org/drawingml/2006/main" noGrp="1"/>
          </p:cNvSpPr>
          <p:nvPr/>
        </p:nvSpPr>
        <p:spPr>
          <a:xfrm xmlns:a="http://schemas.openxmlformats.org/drawingml/2006/main">
            <a:off x="533400" y="1162050"/>
            <a:ext cx="6381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The MVP is ready for</a:t>
            </a:r>
          </a:p>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a traceable live demo</a:t>
            </a:r>
          </a:p>
        </p:txBody>
      </p:sp>
      <p:sp>
        <p:nvSpPr>
          <p:cNvPr id="3" name="">
            <a:extLst xmlns:a="http://schemas.openxmlformats.org/drawingml/2006/main">
              <a:ext uri="{FF2B5EF4-FFF2-40B4-BE49-F238E27FC236}">
                <a16:creationId xmlns:a16="http://schemas.microsoft.com/office/drawing/2014/main" id="{C0615286-9562-456C-B884-D371FB521281}"/>
              </a:ext>
            </a:extLst>
          </p:cNvPr>
          <p:cNvSpPr>
            <a:spLocks xmlns:a="http://schemas.openxmlformats.org/drawingml/2006/main" noGrp="1"/>
          </p:cNvSpPr>
          <p:nvPr/>
        </p:nvSpPr>
        <p:spPr>
          <a:xfrm xmlns:a="http://schemas.openxmlformats.org/drawingml/2006/main">
            <a:off x="533400" y="3219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What is complete</a:t>
            </a:r>
          </a:p>
        </p:txBody>
      </p:sp>
      <p:sp>
        <p:nvSpPr>
          <p:cNvPr id="4" name="">
            <a:extLst xmlns:a="http://schemas.openxmlformats.org/drawingml/2006/main">
              <a:ext uri="{FF2B5EF4-FFF2-40B4-BE49-F238E27FC236}">
                <a16:creationId xmlns:a16="http://schemas.microsoft.com/office/drawing/2014/main" id="{40D2A827-98A2-4F48-B448-BCB416C56ED3}"/>
              </a:ext>
            </a:extLst>
          </p:cNvPr>
          <p:cNvSpPr>
            <a:spLocks xmlns:a="http://schemas.openxmlformats.org/drawingml/2006/main" noGrp="1"/>
          </p:cNvSpPr>
          <p:nvPr/>
        </p:nvSpPr>
        <p:spPr>
          <a:xfrm xmlns:a="http://schemas.openxmlformats.org/drawingml/2006/main">
            <a:off x="533400" y="3638550"/>
            <a:ext cx="4857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DDE5EE"/>
                </a:solidFill>
                <a:latin typeface="Arial"/>
                <a:ea typeface="Arial"/>
                <a:cs typeface="Arial"/>
              </a:defRPr>
            </a:pPr>
            <a:r>
              <a:rPr sz="1500" b="0">
                <a:solidFill>
                  <a:srgbClr val="DDE5EE"/>
                </a:solidFill>
                <a:latin typeface="Arial"/>
                <a:ea typeface="Arial"/>
                <a:cs typeface="Arial"/>
              </a:rPr>
              <a:t>• Local policy RAG with citations</a:t>
            </a:r>
          </a:p>
          <a:p xmlns:a="http://schemas.openxmlformats.org/drawingml/2006/main">
            <a:pPr algn="l">
              <a:defRPr sz="1500" b="0">
                <a:solidFill>
                  <a:srgbClr val="DDE5EE"/>
                </a:solidFill>
                <a:latin typeface="Arial"/>
                <a:ea typeface="Arial"/>
                <a:cs typeface="Arial"/>
              </a:defRPr>
            </a:pPr>
            <a:r>
              <a:rPr sz="1500" b="0">
                <a:solidFill>
                  <a:srgbClr val="DDE5EE"/>
                </a:solidFill>
                <a:latin typeface="Arial"/>
                <a:ea typeface="Arial"/>
                <a:cs typeface="Arial"/>
              </a:rPr>
              <a:t>• Web and combined routes</a:t>
            </a:r>
          </a:p>
          <a:p xmlns:a="http://schemas.openxmlformats.org/drawingml/2006/main">
            <a:pPr algn="l">
              <a:defRPr sz="1500" b="0">
                <a:solidFill>
                  <a:srgbClr val="DDE5EE"/>
                </a:solidFill>
                <a:latin typeface="Arial"/>
                <a:ea typeface="Arial"/>
                <a:cs typeface="Arial"/>
              </a:defRPr>
            </a:pPr>
            <a:r>
              <a:rPr sz="1500" b="0">
                <a:solidFill>
                  <a:srgbClr val="DDE5EE"/>
                </a:solidFill>
                <a:latin typeface="Arial"/>
                <a:ea typeface="Arial"/>
                <a:cs typeface="Arial"/>
              </a:rPr>
              <a:t>• SSE frontend and review-only drafts</a:t>
            </a:r>
          </a:p>
          <a:p xmlns:a="http://schemas.openxmlformats.org/drawingml/2006/main">
            <a:pPr algn="l">
              <a:defRPr sz="1500" b="0">
                <a:solidFill>
                  <a:srgbClr val="DDE5EE"/>
                </a:solidFill>
                <a:latin typeface="Arial"/>
                <a:ea typeface="Arial"/>
                <a:cs typeface="Arial"/>
              </a:defRPr>
            </a:pPr>
            <a:r>
              <a:rPr sz="1500" b="0">
                <a:solidFill>
                  <a:srgbClr val="DDE5EE"/>
                </a:solidFill>
                <a:latin typeface="Arial"/>
                <a:ea typeface="Arial"/>
                <a:cs typeface="Arial"/>
              </a:rPr>
              <a:t>• Repeatable retrieval, RAGAS and latency evaluation</a:t>
            </a:r>
          </a:p>
        </p:txBody>
      </p:sp>
      <p:sp>
        <p:nvSpPr>
          <p:cNvPr id="5" name="">
            <a:extLst xmlns:a="http://schemas.openxmlformats.org/drawingml/2006/main">
              <a:ext uri="{FF2B5EF4-FFF2-40B4-BE49-F238E27FC236}">
                <a16:creationId xmlns:a16="http://schemas.microsoft.com/office/drawing/2014/main" id="{733DB069-BFC2-4CD4-8269-85766F8A7DD0}"/>
              </a:ext>
            </a:extLst>
          </p:cNvPr>
          <p:cNvSpPr>
            <a:spLocks xmlns:a="http://schemas.openxmlformats.org/drawingml/2006/main" noGrp="1"/>
          </p:cNvSpPr>
          <p:nvPr/>
        </p:nvSpPr>
        <p:spPr>
          <a:xfrm xmlns:a="http://schemas.openxmlformats.org/drawingml/2006/main">
            <a:off x="6896100" y="1123950"/>
            <a:ext cx="4762500" cy="4076700"/>
          </a:xfrm>
          <a:prstGeom xmlns:a="http://schemas.openxmlformats.org/drawingml/2006/main" prst="roundRect">
            <a:avLst>
              <a:gd name="adj" fmla="val 1869"/>
            </a:avLst>
          </a:prstGeom>
          <a:solidFill xmlns:a="http://schemas.openxmlformats.org/drawingml/2006/main">
            <a:srgbClr val="1725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17EBF2-4CD0-4458-8B76-05FD8FED5E8B}"/>
              </a:ext>
            </a:extLst>
          </p:cNvPr>
          <p:cNvSpPr>
            <a:spLocks xmlns:a="http://schemas.openxmlformats.org/drawingml/2006/main" noGrp="1"/>
          </p:cNvSpPr>
          <p:nvPr/>
        </p:nvSpPr>
        <p:spPr>
          <a:xfrm xmlns:a="http://schemas.openxmlformats.org/drawingml/2006/main">
            <a:off x="7200900" y="14287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0D6A3"/>
                </a:solidFill>
                <a:latin typeface="Arial"/>
                <a:ea typeface="Arial"/>
                <a:cs typeface="Arial"/>
              </a:defRPr>
            </a:pPr>
            <a:r>
              <a:rPr sz="1725" b="1">
                <a:solidFill>
                  <a:srgbClr val="00D6A3"/>
                </a:solidFill>
                <a:latin typeface="Arial"/>
                <a:ea typeface="Arial"/>
                <a:cs typeface="Arial"/>
              </a:rPr>
              <a:t>Known limits</a:t>
            </a:r>
          </a:p>
        </p:txBody>
      </p:sp>
      <p:sp>
        <p:nvSpPr>
          <p:cNvPr id="7" name="">
            <a:extLst xmlns:a="http://schemas.openxmlformats.org/drawingml/2006/main">
              <a:ext uri="{FF2B5EF4-FFF2-40B4-BE49-F238E27FC236}">
                <a16:creationId xmlns:a16="http://schemas.microsoft.com/office/drawing/2014/main" id="{F71A3F25-B4C9-45A5-832D-984A5DA72E53}"/>
              </a:ext>
            </a:extLst>
          </p:cNvPr>
          <p:cNvSpPr>
            <a:spLocks xmlns:a="http://schemas.openxmlformats.org/drawingml/2006/main" noGrp="1"/>
          </p:cNvSpPr>
          <p:nvPr/>
        </p:nvSpPr>
        <p:spPr>
          <a:xfrm xmlns:a="http://schemas.openxmlformats.org/drawingml/2006/main">
            <a:off x="7200900" y="2076450"/>
            <a:ext cx="400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RAGAS uses a 12-case baseline</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Web mode depends on Internet and OpenAI</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Policy drafts require human/legal review</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Observed latency is not a service-level guarantee</a:t>
            </a:r>
          </a:p>
        </p:txBody>
      </p:sp>
      <p:sp>
        <p:nvSpPr>
          <p:cNvPr id="8" name="">
            <a:extLst xmlns:a="http://schemas.openxmlformats.org/drawingml/2006/main">
              <a:ext uri="{FF2B5EF4-FFF2-40B4-BE49-F238E27FC236}">
                <a16:creationId xmlns:a16="http://schemas.microsoft.com/office/drawing/2014/main" id="{D9D9EF54-9260-4900-98B1-7C2671DC0B33}"/>
              </a:ext>
            </a:extLst>
          </p:cNvPr>
          <p:cNvSpPr>
            <a:spLocks xmlns:a="http://schemas.openxmlformats.org/drawingml/2006/main" noGrp="1"/>
          </p:cNvSpPr>
          <p:nvPr/>
        </p:nvSpPr>
        <p:spPr>
          <a:xfrm xmlns:a="http://schemas.openxmlformats.org/drawingml/2006/main">
            <a:off x="7200900" y="4267200"/>
            <a:ext cx="3600450" cy="57150"/>
          </a:xfrm>
          <a:prstGeom xmlns:a="http://schemas.openxmlformats.org/drawingml/2006/main" prst="rect">
            <a:avLst/>
          </a:prstGeom>
          <a:solidFill xmlns:a="http://schemas.openxmlformats.org/drawingml/2006/main">
            <a:srgbClr val="00D6A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05793CA-8D36-42CF-B369-97128381053F}"/>
              </a:ext>
            </a:extLst>
          </p:cNvPr>
          <p:cNvSpPr>
            <a:spLocks xmlns:a="http://schemas.openxmlformats.org/drawingml/2006/main" noGrp="1"/>
          </p:cNvSpPr>
          <p:nvPr/>
        </p:nvSpPr>
        <p:spPr>
          <a:xfrm xmlns:a="http://schemas.openxmlformats.org/drawingml/2006/main">
            <a:off x="7200900" y="451485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DE5EE"/>
                </a:solidFill>
                <a:latin typeface="Arial"/>
                <a:ea typeface="Arial"/>
                <a:cs typeface="Arial"/>
              </a:defRPr>
            </a:pPr>
            <a:r>
              <a:rPr sz="1275" b="1">
                <a:solidFill>
                  <a:srgbClr val="DDE5EE"/>
                </a:solidFill>
                <a:latin typeface="Arial"/>
                <a:ea typeface="Arial"/>
                <a:cs typeface="Arial"/>
              </a:rPr>
              <a:t>Backup demo: policies mode with POL320190074</a:t>
            </a:r>
          </a:p>
        </p:txBody>
      </p:sp>
      <p:sp>
        <p:nvSpPr>
          <p:cNvPr id="10" name="">
            <a:extLst xmlns:a="http://schemas.openxmlformats.org/drawingml/2006/main">
              <a:ext uri="{FF2B5EF4-FFF2-40B4-BE49-F238E27FC236}">
                <a16:creationId xmlns:a16="http://schemas.microsoft.com/office/drawing/2014/main" id="{4F4DF59B-02BA-4D64-ADF9-C67867A5841F}"/>
              </a:ext>
            </a:extLst>
          </p:cNvPr>
          <p:cNvSpPr>
            <a:spLocks xmlns:a="http://schemas.openxmlformats.org/drawingml/2006/main" noGrp="1"/>
          </p:cNvSpPr>
          <p:nvPr/>
        </p:nvSpPr>
        <p:spPr>
          <a:xfrm xmlns:a="http://schemas.openxmlformats.org/drawingml/2006/main">
            <a:off x="533400" y="5924550"/>
            <a:ext cx="1112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Next action: rehearse the ten-minute handoff and freeze the tagged build.</a:t>
            </a:r>
          </a:p>
        </p:txBody>
      </p:sp>
      <p:sp>
        <p:nvSpPr>
          <p:cNvPr id="11" name="">
            <a:extLst xmlns:a="http://schemas.openxmlformats.org/drawingml/2006/main">
              <a:ext uri="{FF2B5EF4-FFF2-40B4-BE49-F238E27FC236}">
                <a16:creationId xmlns:a16="http://schemas.microsoft.com/office/drawing/2014/main" id="{67DABD74-D9F6-4C8F-899B-7A5C0B2F4A49}"/>
              </a:ext>
            </a:extLst>
          </p:cNvPr>
          <p:cNvSpPr>
            <a:spLocks xmlns:a="http://schemas.openxmlformats.org/drawingml/2006/main" noGrp="1"/>
          </p:cNvSpPr>
          <p:nvPr/>
        </p:nvSpPr>
        <p:spPr>
          <a:xfrm xmlns:a="http://schemas.openxmlformats.org/drawingml/2006/main">
            <a:off x="11096625"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9FB0C3"/>
                </a:solidFill>
                <a:latin typeface="Arial"/>
                <a:ea typeface="Arial"/>
                <a:cs typeface="Arial"/>
              </a:defRPr>
            </a:pPr>
            <a:r>
              <a:rPr sz="975" b="0">
                <a:solidFill>
                  <a:srgbClr val="9FB0C3"/>
                </a:solidFill>
                <a:latin typeface="Arial"/>
                <a:ea typeface="Arial"/>
                <a:cs typeface="Arial"/>
              </a:rPr>
              <a:t>08</a:t>
            </a:r>
          </a:p>
        </p:txBody>
      </p:sp>
    </p:spTree>
    <p:extLst>
      <p:ext uri="{BB962C8B-B14F-4D97-AF65-F5344CB8AC3E}">
        <p14:creationId xmlns:p14="http://schemas.microsoft.com/office/powerpoint/2010/main" val="411946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2026-08-18T14:44:53.4940000Z</dcterms:created>
  <dcterms:modified xsi:type="dcterms:W3CDTF">2026-08-18T14:44:53.4940000Z</dcterms:modified>
</coreProperties>
</file>